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중간보고 표지. 개발한 기능은 크게 두 가지 — (1) 요구사항 등록·검토, (2) 산출물 도출. 이번 발표는 실제 고객 요구사항 1건(경로 주행)을 처음부터 끝까지 시스템에 넣어 돌린 결과 화면으로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배경. 삼성전자에서 받는 VCS 요구사항 명세서를 개발 산출물로 옮기는 과정의 세 가지 문제. 오늘 데모에 쓰는 "경로 주행" 요구사항에도 "일정 간격(n초)" 같은 불명확한 표현이 실제로 들어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계획상 기능 1은 8월, 기능 2는 8~9월. 두 기능 모두 화면과 API, AI 서버까지 실제로 동작하는 상태다. 기능 3(추적성)은 10월에 착수한다.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폐쇄망이라 외부 AI API는 쓸 수 없고 사내 GPT-OSS-120B만 쓴다. 규칙 기반 검출이 항상 먼저 돌고 LLM이 보충한다. LLM이 죽어도 등록·분할·산출물 생성은 규칙 결과로 끝까지 진행된다.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이후 모든 화면은 이 요구사항 1건을 실제 시스템(웹 UI → 백엔드 → AI 서버)에 넣어 돌린 결과다. 목록 화면에 보이는 다른 요구사항(req-tf-01 등)은 목록 구성을 위해 함께 등록한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고객이 보낸 그대로 넣었다. 등록 버튼을 누르면 백엔드가 AI 서버 /analyze를 호출하고, 결과까지 저장한 뒤 검토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형광펜 번호와 아래 카드 번호가 짝을 이룬다. 각 카드는 유형, 원문 구절, 왜 문제인지, 어떻게 바꾸면 좋을지를 보여 준다. LLM이 원문에 없는 구절을 인용하면 버리기 때문에 형광펜은 항상 원문 위에 정확히 칠해진다.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제안을 그대로 받아쓴 것이 아니라, 제안을 참고해 담당자가 최종 본문 칸에서 직접 고쳤다. 오타(대가 구역, 즉이 진입)도 이 단계에서 함께 정리했다.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 합의 기록이 없으면 확정 버튼이 막혀 있다. 합의 시점의 본문을 스냅샷으로 남겨, 합의 후 본문을 또 고치면 재합의가 필요하다는 근거가 된다. 확정하면 상태가 확정으로 바뀌고 v1.0.0이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확정된 요구사항을 고칠 때는 이미 합의된 나머지 문장을 흔들지 않도록, 바뀐 문장과 사유만 AI에 보낸다. 버전 이력에서 v1.0.0 → v1.0.1을 펼치면 바뀐 줄이 형광펜으로, 이전/이후 문장이 카드로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req-pd-01은 두 번 확정을 거쳐 v1.0.1이다. 목록의 나머지 요구사항은 상태별 표시를 보여 주기 위해 함께 넣었다(접수·합의 대기·확정·보류).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2는 AI 단계와 사람 단계가 번갈아 나온다. AI가 제안 → 사람이 확정 → AI가 생성 → 사람이 확정. 이후 장표는 각 단계가 내부적으로 어떻게 돌아가는지를 설명하고, 화면은 경로 주행 요구사항으로 돌린 예시다.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 화면은 경로 주행 요구사항을 넣었을 때 AI가 4건으로 나눈 결과다. 각 이슈가 원문의 어느 부분을 커버하는지 같은 색 형광펜으로 표시된다.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사용자가 산출물 화면을 처음 열 때 기다리지 않도록, 분할 확정 시점에 미리 만들어 둔다. 판정 경로(사내 LLM / 규칙 기반)는 산출물마다 저장되어 화면 배지로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양식은 사내 산출물 템플릿을 기준으로 고정했다. 동작 정의는 현재 기본·예외 2종(6행)이고, 변형 유형 추가(9행)는 양식 확정 후 반영 예정.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시퀀스를 그림이 아니라 Mermaid 코드로 저장하기 때문에 사람이 직접 고치기 쉽고, 문서로 옮기기도 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산출물마다 판정 경로 배지(사내 LLM / 규칙 기반)가 붙어, AI가 실제로 만든 초안인지 기본 양식인지 구분된다.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이번 데모에서 실제로 나온 결과. 시간 절감 수치는 DESIGN에 적은 목표치이며, 11월 파일럿에서 사내 LLM 기준으로 실측해 확정한다.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3 추적성은 이미 이슈·산출물이 요구사항 ID에 묶여 저장되고 있어 그 위에 링크·영향 분석을 올리면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FB8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SEMES · VCS 파트 과제 중간보고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요구사항 검토 및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산출물 자동 생성 도구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불명확·상충을 먼저 찾고, 확정된 요구사항에서 개발 이슈와 산출물 초안을 만든다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208483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617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등록·검토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090672" y="4617720"/>
            <a:ext cx="226771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90672" y="4617720"/>
            <a:ext cx="2267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합의·버전 관리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541264" y="4617720"/>
            <a:ext cx="117043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41264" y="461772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94576" y="4617720"/>
            <a:ext cx="245059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94576" y="4617720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4종 자동 도출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  ·  VCS 개발파트 한지훈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요구사항을 받은 뒤 반복되는 세 가지 문제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545738" cy="3017520"/>
          </a:xfrm>
          <a:prstGeom prst="roundRect">
            <a:avLst>
              <a:gd name="adj" fmla="val 242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불명확한 표현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5468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"일정 간격(n초)", "즉시 작업 가능한 AMR"처럼 고객사와 세메스가 다르게 해석할 수 있는 문장이 많다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3017520"/>
          </a:xfrm>
          <a:prstGeom prst="roundRect">
            <a:avLst>
              <a:gd name="adj" fmla="val 2424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3018" y="1920240"/>
            <a:ext cx="502920" cy="502920"/>
          </a:xfrm>
          <a:prstGeom prst="ellipse">
            <a:avLst/>
          </a:prstGeom>
          <a:solidFill>
            <a:srgbClr val="E0902F"/>
          </a:solidFill>
          <a:ln w="12700">
            <a:solidFill>
              <a:srgbClr val="E090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301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43018" y="26060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작업량 과다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43018" y="315468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요구사항마다 SWVOC·기능/비기능 요구사항·Detail Design·Jira 이슈를 개발자가 일일이 작성한다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43037" y="1600200"/>
            <a:ext cx="3545738" cy="3017520"/>
          </a:xfrm>
          <a:prstGeom prst="roundRect">
            <a:avLst>
              <a:gd name="adj" fmla="val 2424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3077" y="1920240"/>
            <a:ext cx="502920" cy="502920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63077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63077" y="26060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추적 어려움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63077" y="315468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요구사항이 바뀌면 영향받는 기능·문서를 사람이 직접 찾아 고쳐야 하고, 누락이 생긴다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4983480"/>
            <a:ext cx="11185855" cy="1005840"/>
          </a:xfrm>
          <a:prstGeom prst="roundRect">
            <a:avLst>
              <a:gd name="adj" fmla="val 7273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983480"/>
            <a:ext cx="10454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— 수작업을 없애는 것이 아니라, "틀(템플릿) + AI 초안"으로 문서 작성을 덜고 착수 전에 불명확·상충을 잡아 재작업을 줄인다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현황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3대 기능 중 ①·② 개발 완료, ③ 착수 예정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검토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77240" y="26060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불명확·상충 검출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수정·재분석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 기록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+ 시맨틱 버전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이력·diff 비교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977640" y="3429000"/>
            <a:ext cx="320040" cy="36576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087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도출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663440" y="26060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6060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200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이슈 분할 (1:N)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이슈별 산출물 4종 생성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SWVOC · 기능 · 비기능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Design (Mermaid)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재생성 · 확정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863840" y="3429000"/>
            <a:ext cx="320040" cy="36576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5087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49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추적성 관리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549640" y="26060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49640" y="26060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착수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200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요구사항↔산출물 링크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영향 분석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현황·모듈별 정리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5943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기반  로그인·회원가입, 프로젝트 생성·참여(접근 토큰), 폐쇄망 배포(사전 빌드 산출물·실행 스크립트)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폐쇄망 안에서 동작하는 3계층 + 사내 LLM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UI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(React)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등록·검토·합의·버전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분할·산출물 화면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971800" y="2606040"/>
            <a:ext cx="292608" cy="347472"/>
          </a:xfrm>
          <a:prstGeom prst="right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55848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Java 21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요구사항·버전·이슈·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저장, AI 호출 중개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4728" y="2606040"/>
            <a:ext cx="292608" cy="347472"/>
          </a:xfrm>
          <a:prstGeom prst="right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8776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서버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(Python)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추론 — 검토 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 / 산출물 생성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77656" y="2606040"/>
            <a:ext cx="292608" cy="347472"/>
          </a:xfrm>
          <a:prstGeom prst="right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61704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90304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LLM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2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GPT-OSS-120B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호환 API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D6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AI 사용 불가)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98264" y="3931920"/>
            <a:ext cx="292608" cy="365760"/>
          </a:xfrm>
          <a:prstGeom prst="down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55848" y="43891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55848" y="4389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251192" y="3931920"/>
            <a:ext cx="292608" cy="365760"/>
          </a:xfrm>
          <a:prstGeom prst="downArrow">
            <a:avLst/>
          </a:prstGeom>
          <a:solidFill>
            <a:srgbClr val="E0902F"/>
          </a:solidFill>
          <a:ln w="12700">
            <a:solidFill>
              <a:srgbClr val="E090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08776" y="4389120"/>
            <a:ext cx="5230368" cy="685800"/>
          </a:xfrm>
          <a:prstGeom prst="roundRect">
            <a:avLst>
              <a:gd name="adj" fmla="val 10667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91656" y="438912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3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기반 폴백 — LLM 미응답·형식 오류·환각 구절이면 규칙 결과로 끝까지 진행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440680"/>
            <a:ext cx="11185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배지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결과마다 "사내 LLM / 규칙 기반 / AI 미응답"을 표시해 판정 경로를 숨기지 않는다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차단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원문에 없는 구절을 인용하면 그 결과를 버린다 (검출·이슈 분할 공통)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시나리오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요구사항 1건 「경로 주행」을 처음부터 끝까지 넣어 봤다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035040" cy="4846320"/>
          </a:xfrm>
          <a:prstGeom prst="roundRect">
            <a:avLst>
              <a:gd name="adj" fmla="val 150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요구사항 원문 (요약)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목적지가 설비(프로버·스토커)인 경우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구역에 정차 → VCS가 newAMOS 진입 허가를 받아 진입 명령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상태·진입 허가를 일정 간격(n초)으로 갱신해 최종 진입 판정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대기 노드 그룹 2대 이상 → 즉시 작업 가능한 AMR부터, 먼저 도착한 순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· PIO 통신 · 이적재를 하나의 단위 명령 셋으로 연속 진행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목적지 설비가 이상 상태인 경우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노드에서 일시 정지, 정상 확인 시 진입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프로버이고 작업 구간 내 위치한 경우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구간 내 AMR 0대 / 1대(진입 경로 1개·2개) / 2대 이상에 따라 진입 시점 판정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0372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508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8196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그대로 입력 → AI 초기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03720" y="2340864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03720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295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606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불명확 9건 검출 → 본문 수정 → 재분석 0건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903720" y="312724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30815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합의·확정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39242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메일 합의 기록 → v1.0.0 확정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903720" y="3913632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3913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38679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41788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한도 5분→3분 → 변경분만 재검토 → v1.0.1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03720" y="4700016"/>
            <a:ext cx="420624" cy="420624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654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4965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개발 이슈 4건으로 분할 → 확정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03720" y="5486400"/>
            <a:ext cx="420624" cy="420624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03720" y="5486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5440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575157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이슈당 4종 × 4 = 산출물 16건 자동 생성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 — 원문을 넣으면 저장과 함께 AI 초기 검토가 시작된다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5488" y="1481328"/>
            <a:ext cx="6821424" cy="3284359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emes-superrookie/4bb6c32e-f326-52c0-b6dd-484d1b6181f3/scratchpad/crops/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6766560" cy="3229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8920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화면 — 고객 원문을 오타("대가 구역", "즉이 진입")까지 그대로 입력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1554480"/>
            <a:ext cx="4069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ID · 요청자 소속 · 요청자 이름 · 원문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검토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요청 안에서 규칙 + 사내 LLM 검토까지 끝낸 뒤 응답 (로딩 표시)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상충 검출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프로젝트의 기존 요구사항을 함께 보내 서로 어긋나는지 확인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직후 "접수" → 바로 검토 화면으로 이동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35240" y="374904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74904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응답하지 않아도 등록은 항상 성공한다 (규칙 결과만으로 진행)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검토 결과 — 해석이 갈리는 구절 9건을 원문 위에 표시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5488" y="1389888"/>
            <a:ext cx="291184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emes-superrookie/4bb6c32e-f326-52c0-b6dd-484d1b6181f3/scratchpad/crops/review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2856979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813048" y="1389888"/>
            <a:ext cx="268614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emes-superrookie/4bb6c32e-f326-52c0-b6dd-484d1b6181f3/scratchpad/crops/review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417320"/>
            <a:ext cx="2631277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49440" y="13258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E090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8001000" y="15544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검출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 + 사내 LLM 8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514600"/>
          <a:ext cx="47548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02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검출 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예외·경계 조건 누락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동률 도착 순서, 단위 명령 실패, 설비 복구 지연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정량 기준 부재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"일정 간격(n초)", "작업 가능한 AMR"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주어·주체 불명확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진입 여부를 누가 판정하는가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발생 시점 불명확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3항과 1항(진입 허가)의 선후 관계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접속사 범위 모호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"위 3~1) 3~3)" 참조 범위·순환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시간·일정 모호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"즉시"의 허용 지연 (규칙 검출)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949440" y="5440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유형 · 원문 구절 · 이유 · 수정 제안 — AI는 제안만, 확정은 사람이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 결과를 바탕으로 담당자가 본문을 이렇게 고쳤다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457200"/>
                <a:gridCol w="67967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구절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문구 (v1.0.0)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8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간격(n초)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1초 간격(ParameterManagement에서 변경 가능)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진입 여부를 판정한다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VCS(Operation)가 최종 진입 여부를 판정한다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작업 가능한 AMR부터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목적지 설비가 정상이고 진입 허가를 수신한 AMR부터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도착한 순서대로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 도착 시각 순(같으면 Task 생성 시각 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하나의 단위 명령 셋으로 연속 진행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 한 단계라도 실패하면 이후 단계 중단, 알람 발생 후 newAMOS 보고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상태로 확인되면 진입한다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 일시 정지가 5분을 넘으면 알람 발생 후 newAMOS 보고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프로버이고 작업 구간 내 위치한 경우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 (1항의 진입 허가를 받은 뒤 추가로 판정한다)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진입 / 즉이 진입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1초 이내에 진입한다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3~1) 3~3) 정의에 따라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3항의 1), 2) 정의에 따라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수치·주체·예외 처리가 모두 들어간 문장으로 바뀌어, 개발자와 고객이 같은 뜻으로 읽을 수 있다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재분석 → 고객 합의 기록 → 확정 (v1.0.0)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재분석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8745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수정한 본문으로 다시 분석 — 검출 0건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95928" y="1435608"/>
            <a:ext cx="4635177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/tmp/claude-0/-home-user-semes-superrookie/4bb6c32e-f326-52c0-b6dd-484d1b6181f3/scratchpad/crops/reanaly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463040"/>
            <a:ext cx="4580313" cy="1371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312724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 기록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방법·고객측 담당자·합의일·합의 내용 (증빙 이미지 선택)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995928" y="3081528"/>
            <a:ext cx="7690104" cy="1263271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/tmp/claude-0/-home-user-semes-superrookie/4bb6c32e-f326-52c0-b6dd-484d1b6181f3/scratchpad/crops/consens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108960"/>
            <a:ext cx="7635240" cy="120840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2920" y="477316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4773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109728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51663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사유 = 버전 이력 제목, 첫 확정 v1.0.0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3995928" y="4727448"/>
            <a:ext cx="7690104" cy="127002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/tmp/claude-0/-home-user-semes-superrookie/4bb6c32e-f326-52c0-b6dd-484d1b6181f3/scratchpad/crops/confirmed_he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4754880"/>
            <a:ext cx="7635240" cy="121515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후 변경 — 바뀐 부분만 다시 검토하고, 버전이 커밋처럼 쌓인다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요청: 설비 이상 대기 한도 5분 → 3분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" y="1755648"/>
            <a:ext cx="5449824" cy="81807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tmp/claude-0/-home-user-semes-superrookie/4bb6c32e-f326-52c0-b6dd-484d1b6181f3/scratchpad/crops/revise_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5394960" cy="76321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5488" y="2852928"/>
            <a:ext cx="5449824" cy="1970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/tmp/claude-0/-home-user-semes-superrookie/4bb6c32e-f326-52c0-b6dd-484d1b6181f3/scratchpad/crops/revis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80360"/>
            <a:ext cx="5394960" cy="191596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892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물어보기 + 변경된 문장만 재검토 → "알람 이후 AMR 처리" 누락 지적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530352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3035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3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판단: 기존대로 "알람 후 계속 대기·수동 조치"로 합의 → 본문 변경 없이 합의 기록에 남김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36208" y="1435608"/>
            <a:ext cx="5495544" cy="1853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/tmp/claude-0/-home-user-semes-superrookie/4bb6c32e-f326-52c0-b6dd-484d1b6181f3/scratchpad/crops/versio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440680" cy="1799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236208" y="3584448"/>
            <a:ext cx="5495544" cy="2624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3" descr="/tmp/claude-0/-home-user-semes-superrookie/4bb6c32e-f326-52c0-b6dd-484d1b6181f3/scratchpad/crops/diff_ch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611880"/>
            <a:ext cx="5440680" cy="25692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목록과 상태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5488" y="1435608"/>
            <a:ext cx="7004304" cy="32899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emes-superrookie/4bb6c32e-f326-52c0-b6dd-484d1b6181f3/scratchpad/crops/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6949440" cy="32350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846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버전 · 담당자 · 검출 건수를 한눈에 — 진행중/확정 필터, 담당자 필터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15544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887968" y="2103120"/>
            <a:ext cx="237744" cy="32004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01000" y="24688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2468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 대기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887968" y="3017520"/>
            <a:ext cx="237744" cy="32004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01000" y="33832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33832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887968" y="3931920"/>
            <a:ext cx="237744" cy="32004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01000" y="42976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4297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변경중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149840" y="33832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재확정마다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+1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(변경중 → 합의 대기 → 확정)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95560" y="1554480"/>
            <a:ext cx="1463040" cy="502920"/>
          </a:xfrm>
          <a:prstGeom prst="roundRect">
            <a:avLst>
              <a:gd name="adj" fmla="val 21818"/>
            </a:avLst>
          </a:prstGeom>
          <a:solidFill>
            <a:srgbClr val="CF222E"/>
          </a:solidFill>
          <a:ln w="12700">
            <a:solidFill>
              <a:srgbClr val="CF22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95560" y="1554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0149840" y="2103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협의가 더 필요할 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001000" y="5440680"/>
            <a:ext cx="3703320" cy="731520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83880" y="5440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시맨틱 버전  MAJOR 요구 변경 · MINOR 해석 확정 · PATCH 문구 수정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확정된 요구사항에서 개발 산출물 초안까지 — 전체 프로세스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487168" cy="2148840"/>
          </a:xfrm>
          <a:prstGeom prst="roundRect">
            <a:avLst>
              <a:gd name="adj" fmla="val 3404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이슈 분할 제안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확정본을 AI가 구현 단위(개발 이슈) N개로 나눠 제안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044952" y="2496312"/>
            <a:ext cx="256032" cy="329184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00200"/>
            <a:ext cx="2487168" cy="2148840"/>
          </a:xfrm>
          <a:prstGeom prst="roundRect">
            <a:avLst>
              <a:gd name="adj" fmla="val 3404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84448" y="18288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84448" y="1828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28600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분할 검토·확정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274320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제목·구절 수정, 이슈 추가·삭제, 지시를 넣어 재분할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97880" y="2496312"/>
            <a:ext cx="256032" cy="329184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08776" y="1600200"/>
            <a:ext cx="2487168" cy="2148840"/>
          </a:xfrm>
          <a:prstGeom prst="roundRect">
            <a:avLst>
              <a:gd name="adj" fmla="val 3404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7376" y="18288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7376" y="1828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37376" y="228600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산출물 일괄 생성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274320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즉시 이슈 × 4종 초안을 백그라운드에서 생성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750808" y="2496312"/>
            <a:ext cx="256032" cy="329184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61704" y="1600200"/>
            <a:ext cx="2487168" cy="2148840"/>
          </a:xfrm>
          <a:prstGeom prst="roundRect">
            <a:avLst>
              <a:gd name="adj" fmla="val 3404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0304" y="18288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0304" y="18288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290304" y="228600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산출물 검토·확정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290304" y="2743200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 직접 편집, 지시를 넣어 재생성, 확정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→ 출력 구조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920" y="443484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5445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요구사항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 (확정 버전 기준)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063240" y="47091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66160" y="443484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94760" y="45445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이슈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379476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N건 (1건일 수도 있음)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126480" y="47091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903720" y="4434840"/>
            <a:ext cx="4785055" cy="960120"/>
          </a:xfrm>
          <a:prstGeom prst="roundRect">
            <a:avLst>
              <a:gd name="adj" fmla="val 761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0" y="4544568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이슈당 산출물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9377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SWVOC · 기능 · 비기능 · Detail Design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56692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— 양식(틀)은 시스템이 고정하고, 모든 칸의 초안은 AI가 채우며, 최종 확정은 사람이 한다. 빈 칸으로 남기는 항목은 없다.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① 이슈 분할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이슈 경계를 제안하고, 사람이 다듬어 확정한다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7465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요구사항 본문 + (선택) "AI에게 물어보기" 지시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9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기준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532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"서로 다른 기능·모듈로 나눠 개발할 수 있는 지점"에서 나눈다. 이미 작은 변경이면 억지로 쪼개지 않고 1건으로 둔다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358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3192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이슈마다 제목 + 이 이슈가 커버하는 원문 구절(원문 그대로 인용)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105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구절이 원문에 없으면 결과 전체를 버리고 규칙 기반(문장 단위) 분할로 대체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365760" cy="365760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4626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6085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조정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892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제목·구절 수정, 이슈 추가·삭제, 지시를 바꿔 AI로 다시 나누기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413248"/>
            <a:ext cx="365760" cy="365760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292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394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6784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키({요구사항ID}-{순번}) 부여 · 다시 분할하면 기존 이슈를 교체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961888" y="1389888"/>
            <a:ext cx="2980944" cy="289005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9" name="Image 0" descr="/tmp/claude-0/-home-user-semes-superrookie/4bb6c32e-f326-52c0-b6dd-484d1b6181f3/scratchpad/crops/split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2926080" cy="283519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9070848" y="1389888"/>
            <a:ext cx="2660904" cy="180942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1" name="Image 1" descr="/tmp/claude-0/-home-user-semes-superrookie/4bb6c32e-f326-52c0-b6dd-484d1b6181f3/scratchpad/crops/split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417320"/>
            <a:ext cx="2606040" cy="175456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989320" y="598932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원문 형광펜 색·번호 = 아래 이슈 카드 번호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② 일괄 생성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분할을 확정하면 이슈마다 산출물 4종 초안을 미리 만든다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 넘기는 입력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37944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유형별 프롬프트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183794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유형마다 양식(JSON 필드)을 고정해 그 형식으로만 답하게 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386584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41448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배경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44144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VCS 개요와 8개 모듈(operation · jobassign · hostinterface …) 이름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990088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44952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정보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304495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제목 + 이 이슈가 커버하는 원문 구절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593592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6484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요구사항 전문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3648456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확정본 전체 — 이슈 밖 맥락까지 참고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197096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2519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프로젝트의 다른 요구사항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42519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있으면 클래스·용어 이름을 맞추고, 없으면 무시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방식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2120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수 × 4건을 백그라운드 큐에서 동시 3건씩 생성 (AI 서버 과부하 방지)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검증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양식 필드가 빠진 응답은 버리고 규칙 기반 기본 초안으로 대체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복구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생성이 실패해도 해당 화면을 열 때 다시 생성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01968" y="1389888"/>
            <a:ext cx="3163824" cy="441881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3" name="Image 0" descr="/tmp/claude-0/-home-user-semes-superrookie/4bb6c32e-f326-52c0-b6dd-484d1b6181f3/scratchpad/crops/issue_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417320"/>
            <a:ext cx="3108960" cy="4363953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921240" y="1508760"/>
            <a:ext cx="1783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카드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· 제목 · 커버 구절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칩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해당 산출물 화면으로 이동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6035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이슈 카드와 산출물 칩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③ 산출물 양식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4종은 양식이 고정되어 있고, AI는 각 칸을 채운다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329184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양식(필드)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SWVOC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요청 정리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설명(요청 취지) · 요청사항 · 특이사항(다른 요구사항과의 관계)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요구사항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하는가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 · 개요(역할 · 목적) · 동작 정의(기본/예외 × 선행조건 · 시나리오 · 후행조건)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비기능 요구사항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 잘 해야 하는가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요구사항과 같은 구조 + 제약사항(성능 · 가용성 등 정량 기준)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 Design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바꾸는가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 · Class Diagram(영향 클래스, 변경 여부) · Sequence AS-IS / TO-BE (Mermaid)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525780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2578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알 수 없는 내용(현재 코드 구조 등)도 빈 칸으로 두지 않고 추정 초안을 채운다 — 사람은 고치기만 하면 된다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784848" y="1389888"/>
            <a:ext cx="4946904" cy="449492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/tmp/claude-0/-home-user-semes-superrookie/4bb6c32e-f326-52c0-b6dd-484d1b6181f3/scratchpad/crops/func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4892040" cy="44400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12280" y="60350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기능 요구사항 (동작 정의 표)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④ Detail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설계는 클래스 목록과 Mermaid 시퀀스 코드로 만든다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08760"/>
            <a:ext cx="4572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 Diagram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영향받는 클래스와 필드·메서드를 뽑고, 이번에 바뀌는 클래스에 "변경" 체크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Sequence AS-IS / TO-BE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변경 전·후 흐름을 Mermaid 코드로 작성, 바뀐 메시지 끝에 "(변경)" 표시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렌더링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코드를 바로 다이어그램으로 그림 — 코드를 고치면 그림도 바로 바뀜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복사로 설계 문서에 그대로 붙여넣기, 다이어그램 클릭 시 확대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525780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2578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3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코드(AS-IS)는 AI가 볼 수 없어 도메인 관례로 추정한 초안 — 담당자 확인 필요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21808" y="1389888"/>
            <a:ext cx="2798064" cy="2234393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/tmp/claude-0/-home-user-semes-superrookie/4bb6c32e-f326-52c0-b6dd-484d1b6181f3/scratchpad/crops/dd_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417320"/>
            <a:ext cx="2743200" cy="21795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47888" y="1389888"/>
            <a:ext cx="3179361" cy="2203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/tmp/claude-0/-home-user-semes-superrookie/4bb6c32e-f326-52c0-b6dd-484d1b6181f3/scratchpad/crops/dd_code_t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417320"/>
            <a:ext cx="3124497" cy="2148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247888" y="3721608"/>
            <a:ext cx="3046049" cy="2203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/tmp/claude-0/-home-user-semes-superrookie/4bb6c32e-f326-52c0-b6dd-484d1b6181f3/scratchpad/crops/dd_render_t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749040"/>
            <a:ext cx="2991185" cy="21488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60350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클래스 목록 / TO-BE Mermaid 코드 / 같은 코드의 렌더링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⑤ 검토 · 확정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산출물마다 사람이 고치거나, AI에게 다시 시키고, 확정한다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E0902F"/>
          </a:solidFill>
          <a:ln w="12700">
            <a:solidFill>
              <a:srgbClr val="E090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087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대기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52704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초안이 저장된 상태 (화면 상단에 "AI 초안" 안내)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188720" y="2039112"/>
            <a:ext cx="228600" cy="41148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32888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5328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편집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55117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칸을 그 자리에서 수정 — 표·클래스·Mermaid 코드 포함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88720" y="3063240"/>
            <a:ext cx="228600" cy="41148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57016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재생성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35753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지시를 적으면 지시를 더해 다시 생성, 진행 상태 표시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88720" y="4087368"/>
            <a:ext cx="228600" cy="41148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4581144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45811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59943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고친 최종 내용을 저장, 상태가 "확정"으로 바뀜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715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편집·재생성은 확정 전 몇 번이든 반복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70448" y="1389888"/>
            <a:ext cx="5861304" cy="175885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0" descr="/tmp/claude-0/-home-user-semes-superrookie/4bb6c32e-f326-52c0-b6dd-484d1b6181f3/scratchpad/crops/re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806440" cy="170399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897880" y="3246120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산출물 하단의 AI로 재생성 입력칸과 확정 버튼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870448" y="3630168"/>
            <a:ext cx="28590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/tmp/claude-0/-home-user-semes-superrookie/4bb6c32e-f326-52c0-b6dd-484d1b6181f3/scratchpad/crops/voc_i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3657600"/>
            <a:ext cx="2804160" cy="237744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8979408" y="3630168"/>
            <a:ext cx="2752344" cy="133616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2" descr="/tmp/claude-0/-home-user-semes-superrookie/4bb6c32e-f326-52c0-b6dd-484d1b6181f3/scratchpad/crops/nonfunc_i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3657600"/>
            <a:ext cx="2697480" cy="1281303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897880" y="6080760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SWVOC / 비기능 요구사항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1건이 시스템을 거쳐 나온 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090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검출된 불명확 구절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 + LLM 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7964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42284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3642284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버전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42284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v1.0.0 → v1.0.1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07328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6507328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이슈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분할 후 확정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051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72371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72371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초안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372371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이슈당 4종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 (목표치 — 파일럿에서 실측 예정)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343400"/>
          <a:ext cx="1118585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291840"/>
                <a:gridCol w="42364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수작업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1건의 산출물 작성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3시간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5분 이내 초안 + 검토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불명확·상충 발견 시점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중·후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착수 전 검토 단계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 이력 확인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메일·문서 뒤지기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이력 + diff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기능 3 · 외부 연동, 11월 검증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10820095" cy="0"/>
          </a:xfrm>
          <a:prstGeom prst="line">
            <a:avLst/>
          </a:prstGeom>
          <a:noFill/>
          <a:ln w="25400">
            <a:solidFill>
              <a:srgbClr val="D9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37360"/>
            <a:ext cx="274320" cy="274320"/>
          </a:xfrm>
          <a:prstGeom prst="ellipse">
            <a:avLst/>
          </a:prstGeom>
          <a:solidFill>
            <a:srgbClr val="0F71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3 추적성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요구사항↔산출물 링크, 변경 시 영향 산출물 자동 표시(영향받음/없음)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0824" y="1737360"/>
            <a:ext cx="274320" cy="274320"/>
          </a:xfrm>
          <a:prstGeom prst="ellipse">
            <a:avLst/>
          </a:prstGeom>
          <a:solidFill>
            <a:srgbClr val="0F71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0824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연동·통합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390824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docx 명세서 파싱 입력, Jira 이슈 연동, 이슈 상세 화면 실데이터 연결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87288" y="1737360"/>
            <a:ext cx="274320" cy="274320"/>
          </a:xfrm>
          <a:prstGeom prst="ellipse">
            <a:avLst/>
          </a:prstGeom>
          <a:solidFill>
            <a:srgbClr val="0F71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87288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초중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187288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검증·안정화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187288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LLM 품질·응답 시간 실측, 파일럿·피드백, 프롬프트 튜닝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83751" y="1737360"/>
            <a:ext cx="274320" cy="274320"/>
          </a:xfrm>
          <a:prstGeom prst="ellipse">
            <a:avLst/>
          </a:prstGeom>
          <a:solidFill>
            <a:srgbClr val="1226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83751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983751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최종보고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983751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결과·성과 정리 (실측 효과 포함)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이슈 · 리스크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572000"/>
            <a:ext cx="111858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LLM 실측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품질·지연을 폐쇄망 실서버에서 측정해야 함 (타임아웃 시 규칙 기반 폴백은 구현 완료)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정의 행 수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DESIGN은 기본·변형·예외 9행, 현재 구현은 기본·예외 6행 — 양식 확정 필요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상세 화면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현상 기록·변경 범위 등 본문 필드는 아직 목업 — 산출물 4종과 같은 방식으로 AI 초안 연결 예정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FB8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질의응답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등록·검토 → 고객 합의·버전 → 이슈 분할 → 산출물 4종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 요구사항 검토 및 개발 산출물 자동 생성 도구 — 중간보고</dc:title>
  <dc:subject>PptxGenJS Presentation</dc:subject>
  <dc:creator>PptxGenJS</dc:creator>
  <cp:lastModifiedBy>PptxGenJS</cp:lastModifiedBy>
  <cp:revision>1</cp:revision>
  <dcterms:created xsi:type="dcterms:W3CDTF">2026-09-23T06:16:24Z</dcterms:created>
  <dcterms:modified xsi:type="dcterms:W3CDTF">2026-09-23T06:16:24Z</dcterms:modified>
</cp:coreProperties>
</file>