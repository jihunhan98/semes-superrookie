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중간보고 표지. 개발한 기능은 크게 두 가지 — (1) 요구사항 등록·검토, (2) 산출물 도출. 이번 발표는 실제 고객 요구사항 1건(경로 주행)을 처음부터 끝까지 시스템에 넣어 돌린 결과 화면으로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배경. 삼성전자에서 받는 VCS 요구사항 명세서를 개발 산출물로 옮기는 과정의 세 가지 문제. 오늘 데모에 쓰는 "경로 주행" 요구사항에도 "일정 간격(n초)" 같은 불명확한 표현이 실제로 들어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계획상 기능 1은 8월, 기능 2는 8~9월. 두 기능 모두 화면과 API, AI 서버까지 실제로 동작하는 상태다. 기능 3(추적성)은 10월에 착수한다.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폐쇄망이라 외부 AI API는 쓸 수 없고 사내 GPT-OSS-120B만 쓴다. 규칙 기반 검출이 항상 먼저 돌고 LLM이 보충한다. LLM이 죽어도 등록·분할·산출물 생성은 규칙 결과로 끝까지 진행된다.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이후 모든 화면은 이 요구사항 1건을 실제 시스템(웹 UI → 백엔드 → AI 서버)에 넣어 돌린 결과다. 목록 화면에 보이는 다른 요구사항(req-tf-01 등)은 목록 구성을 위해 함께 등록한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원문은 고객이 보낸 그대로 넣었다. 등록 버튼을 누르면 백엔드가 AI 서버 /analyze를 호출하고, 결과까지 저장한 뒤 검토 화면으로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형광펜 번호와 아래 카드 번호가 짝을 이룬다. 각 카드는 유형, 원문 구절, 왜 문제인지, 어떻게 바꾸면 좋을지를 보여 준다. LLM이 원문에 없는 구절을 인용하면 버리기 때문에 형광펜은 항상 원문 위에 정확히 칠해진다.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제안을 그대로 받아쓴 것이 아니라, 제안을 참고해 담당자가 최종 본문 칸에서 직접 고쳤다. 오타(대가 구역, 즉이 진입)도 이 단계에서 함께 정리했다.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 합의 기록이 없으면 확정 버튼이 막혀 있다. 합의 시점의 본문을 스냅샷으로 남겨, 합의 후 본문을 또 고치면 재합의가 필요하다는 근거가 된다. 확정하면 상태가 확정으로 바뀌고 v1.0.0이 붙는다.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확정된 요구사항을 고칠 때는 이미 합의된 나머지 문장을 흔들지 않도록, 바뀐 문장과 사유만 AI에 보낸다. 버전 이력에서 v1.0.0 → v1.0.1을 펼치면 바뀐 줄이 형광펜으로, 이전/이후 문장이 카드로 보인다.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req-pd-01은 두 번 확정을 거쳐 v1.0.1이다. 목록의 나머지 요구사항은 상태별 표시를 보여 주기 위해 함께 넣었다(접수·합의 대기·확정·보류).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원칙: 틀(양식)은 시스템이 고정하고, 내용은 AI 초안 + 사람 수정. 이번 데모에서 요구사항 1건이 이슈 4건, 산출물 16건으로 도출됐다.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AI가 경로 주행 요구사항을 4개 이슈로 나눴다. 원문에 없는 구절을 인용하면 결과 전체를 버리고 규칙 기반(문장 단위) 분할로 대체한다. 확정하면 이슈 키가 req-pd-01-1 ~ -4로 붙는다.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확정본, 오른쪽이 이슈 카드. 사용자가 산출물 화면을 처음 열 때 기다리지 않도록 확정 시점에 미리 생성해 둔다(warm-up).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동작 정의는 기본·예외 각각 선행조건·시나리오·후행조건. 모든 칸은 편집 가능하고, 아래 "AI로 재생성"에 참고 지시를 적어 다시 만들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비기능 요구사항은 기능과 같은 구조에 제약사항(정량 기준)이 추가된다. 이슈 3의 대기 한도는 최신 확정본 v1.0.1의 3분으로 생성됐다.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이슈 1의 Detail Design. EntryDecisionService, EquipmentStatusCache, WaitingNodeQueue 등 변경 클래스와, 1초 주기 갱신·대기 큐가 들어간 TO-BE 시퀀스를 AI가 초안으로 만들었다. 시퀀스는 Mermaid 코드로 저장돼 그대로 복사해 문서에 붙일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검토 단계에서 "3항은 1항 진입 허가 이후 추가 판정"으로 고친 내용이 시퀀스에도 그대로 반영된 점을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수치는 이번 데모에서 실제로 나온 결과. 시간 절감 수치는 DESIGN에 적은 목표치이며, 11월 파일럿에서 사내 LLM 기준으로 실측해 확정한다.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기능 3 추적성은 이미 이슈·산출물이 요구사항 ID에 묶여 저장되고 있어 그 위에 링크·영향 분석을 올리면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B8B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SEMES · VCS 파트 과제 중간보고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2024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요구사항 검토 및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산출물 자동 생성 도구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불명확·상충을 먼저 찾고, 확정된 요구사항에서 개발 이슈와 산출물 초안을 만든다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617720"/>
            <a:ext cx="2084832" cy="402336"/>
          </a:xfrm>
          <a:prstGeom prst="roundRect">
            <a:avLst>
              <a:gd name="adj" fmla="val 45455"/>
            </a:avLst>
          </a:prstGeom>
          <a:solidFill>
            <a:srgbClr val="1E3A52"/>
          </a:solidFill>
          <a:ln w="12700">
            <a:solidFill>
              <a:srgbClr val="2F567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61772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등록·검토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090672" y="4617720"/>
            <a:ext cx="2267712" cy="402336"/>
          </a:xfrm>
          <a:prstGeom prst="roundRect">
            <a:avLst>
              <a:gd name="adj" fmla="val 45455"/>
            </a:avLst>
          </a:prstGeom>
          <a:solidFill>
            <a:srgbClr val="1E3A52"/>
          </a:solidFill>
          <a:ln w="12700">
            <a:solidFill>
              <a:srgbClr val="2F56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90672" y="4617720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합의·버전 관리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541264" y="4617720"/>
            <a:ext cx="1170432" cy="402336"/>
          </a:xfrm>
          <a:prstGeom prst="roundRect">
            <a:avLst>
              <a:gd name="adj" fmla="val 45455"/>
            </a:avLst>
          </a:prstGeom>
          <a:solidFill>
            <a:srgbClr val="1E3A52"/>
          </a:solidFill>
          <a:ln w="12700">
            <a:solidFill>
              <a:srgbClr val="2F567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41264" y="461772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분할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94576" y="4617720"/>
            <a:ext cx="2450592" cy="402336"/>
          </a:xfrm>
          <a:prstGeom prst="roundRect">
            <a:avLst>
              <a:gd name="adj" fmla="val 45455"/>
            </a:avLst>
          </a:prstGeom>
          <a:solidFill>
            <a:srgbClr val="1E3A52"/>
          </a:solidFill>
          <a:ln w="12700">
            <a:solidFill>
              <a:srgbClr val="2F567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94576" y="461772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4종 자동 도출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09  ·  VCS 개발파트 한지훈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배경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요구사항을 받은 뒤 반복되는 세 가지 문제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545738" cy="3017520"/>
          </a:xfrm>
          <a:prstGeom prst="roundRect">
            <a:avLst>
              <a:gd name="adj" fmla="val 2424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불명확한 표현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54680"/>
            <a:ext cx="29056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"일정 간격(n초)", "즉시 작업 가능한 AMR"처럼 고객사와 세메스가 다르게 해석할 수 있는 문장이 많다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2978" y="1600200"/>
            <a:ext cx="3545738" cy="3017520"/>
          </a:xfrm>
          <a:prstGeom prst="roundRect">
            <a:avLst>
              <a:gd name="adj" fmla="val 2424"/>
            </a:avLst>
          </a:prstGeom>
          <a:solidFill>
            <a:srgbClr val="FDF1E1"/>
          </a:solidFill>
          <a:ln w="12700">
            <a:solidFill>
              <a:srgbClr val="FDF1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3018" y="1920240"/>
            <a:ext cx="502920" cy="502920"/>
          </a:xfrm>
          <a:prstGeom prst="ellipse">
            <a:avLst/>
          </a:prstGeom>
          <a:solidFill>
            <a:srgbClr val="E0902F"/>
          </a:solidFill>
          <a:ln w="12700">
            <a:solidFill>
              <a:srgbClr val="E090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4301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43018" y="260604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작업량 과다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43018" y="3154680"/>
            <a:ext cx="29056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요구사항마다 SWVOC·기능/비기능 요구사항·Detail Design·Jira 이슈를 개발자가 일일이 작성한다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43037" y="1600200"/>
            <a:ext cx="3545738" cy="3017520"/>
          </a:xfrm>
          <a:prstGeom prst="roundRect">
            <a:avLst>
              <a:gd name="adj" fmla="val 2424"/>
            </a:avLst>
          </a:prstGeom>
          <a:solidFill>
            <a:srgbClr val="E3F1F1"/>
          </a:solidFill>
          <a:ln w="12700">
            <a:solidFill>
              <a:srgbClr val="E3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63077" y="1920240"/>
            <a:ext cx="502920" cy="502920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63077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63077" y="260604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추적 어려움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463077" y="3154680"/>
            <a:ext cx="29056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요구사항이 바뀌면 영향받는 기능·문서를 사람이 직접 찾아 고쳐야 하고, 누락이 생긴다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4983480"/>
            <a:ext cx="11185855" cy="1005840"/>
          </a:xfrm>
          <a:prstGeom prst="roundRect">
            <a:avLst>
              <a:gd name="adj" fmla="val 7273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983480"/>
            <a:ext cx="10454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— 수작업을 없애는 것이 아니라, "틀(템플릿) + AI 초안"으로 문서 작성을 덜고 착수 전에 불명확·상충을 잡아 재작업을 줄인다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현황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기능 중 ①·② 개발 완료, ③ 착수 예정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검토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77240" y="260604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060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완료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004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등록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불명확·상충 검출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수정·재분석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합의 기록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+ 시맨틱 버전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이력·diff 비교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977640" y="3429000"/>
            <a:ext cx="320040" cy="365760"/>
          </a:xfrm>
          <a:prstGeom prst="rightArrow">
            <a:avLst/>
          </a:prstGeom>
          <a:solidFill>
            <a:srgbClr val="D9DEE4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50876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도출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4663440" y="260604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26060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완료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2004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이슈 분할 (1:N)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이슈별 산출물 4종 생성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SWVOC · 기능 · 비기능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Detail Design (Mermaid)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재생성 · 확정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863840" y="3429000"/>
            <a:ext cx="320040" cy="365760"/>
          </a:xfrm>
          <a:prstGeom prst="rightArrow">
            <a:avLst/>
          </a:prstGeom>
          <a:solidFill>
            <a:srgbClr val="D9DEE4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150876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4964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54964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추적성 관리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8549640" y="260604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49640" y="26060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착수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549640" y="32004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요구사항↔산출물 링크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영향 분석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현황·모듈별 정리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59436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기반  로그인·회원가입, 프로젝트 생성·참여(접근 토큰), 폐쇄망 배포(사전 빌드 산출물·실행 스크립트)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368735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폐쇄망 안에서 동작하는 3계층 + 사내 LLM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UI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(React)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889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등록·검토·합의·버전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분할·산출물 화면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971800" y="2606040"/>
            <a:ext cx="292608" cy="347472"/>
          </a:xfrm>
          <a:prstGeom prst="rightArrow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55848" y="173736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84448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2377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· Java 21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27889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요구사항·버전·이슈·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저장, AI 호출 중개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24728" y="2606040"/>
            <a:ext cx="292608" cy="347472"/>
          </a:xfrm>
          <a:prstGeom prst="rightArrow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08776" y="173736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37376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서버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2377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(Python)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37376" y="27889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무상태 추론 — 검토 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분할 / 산출물 생성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77656" y="2606040"/>
            <a:ext cx="292608" cy="347472"/>
          </a:xfrm>
          <a:prstGeom prst="rightArrow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61704" y="173736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90304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LLM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290304" y="2377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C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GPT-OSS-120B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290304" y="27889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6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호환 API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6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(외부 AI 사용 불가)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398264" y="3931920"/>
            <a:ext cx="292608" cy="365760"/>
          </a:xfrm>
          <a:prstGeom prst="downArrow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55848" y="438912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3F1F1"/>
          </a:solidFill>
          <a:ln w="12700">
            <a:solidFill>
              <a:srgbClr val="E3F1F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55848" y="4389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DB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251192" y="3931920"/>
            <a:ext cx="292608" cy="365760"/>
          </a:xfrm>
          <a:prstGeom prst="downArrow">
            <a:avLst/>
          </a:prstGeom>
          <a:solidFill>
            <a:srgbClr val="E0902F"/>
          </a:solidFill>
          <a:ln w="12700">
            <a:solidFill>
              <a:srgbClr val="E0902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08776" y="4389120"/>
            <a:ext cx="5230368" cy="685800"/>
          </a:xfrm>
          <a:prstGeom prst="roundRect">
            <a:avLst>
              <a:gd name="adj" fmla="val 10667"/>
            </a:avLst>
          </a:prstGeom>
          <a:solidFill>
            <a:srgbClr val="FDF1E1"/>
          </a:solidFill>
          <a:ln w="12700">
            <a:solidFill>
              <a:srgbClr val="FDF1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91656" y="4389120"/>
            <a:ext cx="4864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3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 폴백 — LLM 미응답·형식 오류·환각 구절이면 규칙 결과로 끝까지 진행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5440680"/>
            <a:ext cx="11185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배지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결과마다 "사내 LLM / 규칙 기반 / AI 미응답"을 표시해 판정 경로를 숨기지 않는다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 차단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원문에 없는 구절을 인용하면 그 결과를 버린다 (검출·이슈 분할 공통)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1368735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시나리오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요구사항 1건 「경로 주행」을 처음부터 끝까지 넣어 봤다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035040" cy="4846320"/>
          </a:xfrm>
          <a:prstGeom prst="roundRect">
            <a:avLst>
              <a:gd name="adj" fmla="val 1509"/>
            </a:avLst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요구사항 원문 (요약)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목적지가 설비(프로버·스토커)인 경우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구역에 정차 → VCS가 newAMOS 진입 허가를 받아 진입 명령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상태·진입 허가를 일정 간격(n초)으로 갱신해 최종 진입 판정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대기 노드 그룹 2대 이상 → 즉시 작업 가능한 AMR부터, 먼저 도착한 순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도킹 · PIO 통신 · 이적재를 하나의 단위 명령 셋으로 연속 진행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목적지 설비가 이상 상태인 경우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노드에서 일시 정지, 정상 확인 시 진입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프로버이고 작업 구간 내 위치한 경우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구간 내 AMR 0대 / 1대(진입 경로 1개·2개) / 2대 이상에 따라 진입 시점 판정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20624" cy="420624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03720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508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18196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그대로 입력 → AI 초기 검토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03720" y="2340864"/>
            <a:ext cx="420624" cy="420624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03720" y="2340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22951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2606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불명확 9건 검출 → 본문 수정 → 재분석 0건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903720" y="3127248"/>
            <a:ext cx="420624" cy="420624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0372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30815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합의·확정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33924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메일 합의 기록 → v1.0.0 확정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03720" y="3913632"/>
            <a:ext cx="420624" cy="420624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3913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38679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41788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한도 5분→3분 → 변경분만 재검토 → v1.0.1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03720" y="4700016"/>
            <a:ext cx="420624" cy="420624"/>
          </a:xfrm>
          <a:prstGeom prst="ellipse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03720" y="4700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46542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분할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49651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개발 이슈 4건으로 분할 → 확정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903720" y="5486400"/>
            <a:ext cx="420624" cy="420624"/>
          </a:xfrm>
          <a:prstGeom prst="ellipse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03720" y="5486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0" y="54406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0" y="575157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이슈당 4종 × 4 = 산출물 16건 자동 생성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1 · 요구사항 검토 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등록 — 원문을 넣으면 저장과 함께 AI 초기 검토가 시작된다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481328"/>
            <a:ext cx="6821424" cy="3284359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emes-superrookie/4bb6c32e-f326-52c0-b6dd-484d1b6181f3/scratchpad/crops/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6766560" cy="32294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8920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화면 — 고객 원문을 오타("대가 구역", "즉이 진입")까지 그대로 입력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7635240" y="1554480"/>
            <a:ext cx="4069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ID · 요청자 소속 · 요청자 이름 · 원문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검토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요청 안에서 규칙 + 사내 LLM 검토까지 끝낸 뒤 응답 (로딩 표시)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상충 검출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프로젝트의 기존 요구사항을 함께 보내 서로 어긋나는지 확인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직후 "접수" → 바로 검토 화면으로 이동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35240" y="3749040"/>
            <a:ext cx="4069080" cy="1097280"/>
          </a:xfrm>
          <a:prstGeom prst="roundRect">
            <a:avLst>
              <a:gd name="adj" fmla="val 6667"/>
            </a:avLst>
          </a:prstGeom>
          <a:solidFill>
            <a:srgbClr val="E3F1F1"/>
          </a:solidFill>
          <a:ln w="12700">
            <a:solidFill>
              <a:srgbClr val="E3F1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18120" y="374904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응답하지 않아도 등록은 항상 성공한다 (규칙 결과만으로 진행)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1 · 요구사항 검토 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검토 결과 — 해석이 갈리는 구절 9건을 원문 위에 표시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2911843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emes-superrookie/4bb6c32e-f326-52c0-b6dd-484d1b6181f3/scratchpad/crops/review_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2856979" cy="4983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13048" y="1389888"/>
            <a:ext cx="2686141" cy="5038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/tmp/claude-0/-home-user-semes-superrookie/4bb6c32e-f326-52c0-b6dd-484d1b6181f3/scratchpad/crops/review_car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417320"/>
            <a:ext cx="2631277" cy="49834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949440" y="13258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E09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6400" dirty="0"/>
          </a:p>
        </p:txBody>
      </p:sp>
      <p:sp>
        <p:nvSpPr>
          <p:cNvPr id="9" name="Text 5"/>
          <p:cNvSpPr txBox="1"/>
          <p:nvPr/>
        </p:nvSpPr>
        <p:spPr>
          <a:xfrm>
            <a:off x="8001000" y="1554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 검출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1 + 사내 LLM 8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514600"/>
          <a:ext cx="47548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50292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검출 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예외·경계 조건 누락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동률 도착 순서, 단위 명령 실패, 설비 복구 지연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정량 기준 부재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"일정 간격(n초)", "작업 가능한 AMR"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주어·주체 불명확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진입 여부를 누가 판정하는가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 발생 시점 불명확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3항과 1항(진입 허가)의 선후 관계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접속사 범위 모호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"위 3~1) 3~3)" 참조 범위·순환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시간·일정 모호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"즉시"의 허용 지연 (규칙 검출)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6949440" y="5440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카드마다 유형 · 원문 구절 · 이유 · 수정 제안 — AI는 제안만, 확정은 사람이</a:t>
            </a:r>
            <a:endParaRPr lang="en-US" sz="1050" dirty="0"/>
          </a:p>
        </p:txBody>
      </p:sp>
      <p:sp>
        <p:nvSpPr>
          <p:cNvPr id="12" name="Text 7"/>
          <p:cNvSpPr txBox="1"/>
          <p:nvPr/>
        </p:nvSpPr>
        <p:spPr>
          <a:xfrm>
            <a:off x="11368735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1 · 요구사항 검토 ③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검출 결과를 바탕으로 담당자가 본문을 이렇게 고쳤다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5855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457200"/>
                <a:gridCol w="6796735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원문 구절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문구 (v1.0.0)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83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 간격(n초)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1초 간격(ParameterManagement에서 변경 가능)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진입 여부를 판정한다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VCS(Operation)가 최종 진입 여부를 판정한다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즉시 작업 가능한 AMR부터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목적지 설비가 정상이고 진입 허가를 수신한 AMR부터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먼저 도착한 순서대로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 노드 도착 시각 순(같으면 Task 생성 시각 순)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하나의 단위 명령 셋으로 연속 진행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한 단계라도 실패하면 이후 단계 중단, 알람 발생 후 newAMOS 보고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상태로 확인되면 진입한다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일시 정지가 5분을 넘으면 알람 발생 후 newAMOS 보고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프로버이고 작업 구간 내 위치한 경우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(1항의 진입 허가를 받은 뒤 추가로 판정한다)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즉시 진입 / 즉이 진입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1초 이내에 진입한다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 3~1) 3~3) 정의에 따라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 3항의 1), 2) 정의에 따라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59893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수치·주체·예외 처리가 모두 들어간 문장으로 바뀌어, 개발자와 고객이 같은 뜻으로 읽을 수 있다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368735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1 · 요구사항 검토 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재분석 → 고객 합의 기록 → 확정 (v1.0.0)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420624" cy="420624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재분석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8745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수정한 본문으로 다시 분석 — 검출 0건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995928" y="1435608"/>
            <a:ext cx="4635177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0" descr="/tmp/claude-0/-home-user-semes-superrookie/4bb6c32e-f326-52c0-b6dd-484d1b6181f3/scratchpad/crops/reanaly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463040"/>
            <a:ext cx="4580313" cy="1371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3127248"/>
            <a:ext cx="420624" cy="420624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합의 기록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35204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방법·고객측 담당자·합의일·합의 내용 (증빙 이미지 선택)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995928" y="3081528"/>
            <a:ext cx="7690104" cy="1263271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/tmp/claude-0/-home-user-semes-superrookie/4bb6c32e-f326-52c0-b6dd-484d1b6181f3/scratchpad/crops/consens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3108960"/>
            <a:ext cx="7635240" cy="1208407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02920" y="4773168"/>
            <a:ext cx="420624" cy="420624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02920" y="4773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097280" y="4754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1097280" y="51663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사유 = 버전 이력 제목, 첫 확정 v1.0.0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3995928" y="4727448"/>
            <a:ext cx="7690104" cy="127002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2" descr="/tmp/claude-0/-home-user-semes-superrookie/4bb6c32e-f326-52c0-b6dd-484d1b6181f3/scratchpad/crops/confirmed_he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4754880"/>
            <a:ext cx="7635240" cy="121515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1368735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1 · 요구사항 검토 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후 변경 — 바뀐 부분만 다시 검토하고, 버전이 커밋처럼 쌓인다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요청: 설비 이상 대기 한도 5분 → 3분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" y="1755648"/>
            <a:ext cx="5449824" cy="81807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tmp/claude-0/-home-user-semes-superrookie/4bb6c32e-f326-52c0-b6dd-484d1b6181f3/scratchpad/crops/revise_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5394960" cy="76321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" y="2852928"/>
            <a:ext cx="5449824" cy="19708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/tmp/claude-0/-home-user-semes-superrookie/4bb6c32e-f326-52c0-b6dd-484d1b6181f3/scratchpad/crops/revise_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80360"/>
            <a:ext cx="5394960" cy="191596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2920" y="4892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물어보기 + 변경된 문장만 재검토 → "알람 이후 AMR 처리" 누락 지적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53035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DF1E1"/>
          </a:solidFill>
          <a:ln w="12700">
            <a:solidFill>
              <a:srgbClr val="FDF1E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53035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3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판단: 기존대로 "알람 후 계속 대기·수동 조치"로 합의 → 본문 변경 없이 합의 기록에 남김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36208" y="1435608"/>
            <a:ext cx="5495544" cy="1853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/tmp/claude-0/-home-user-semes-superrookie/4bb6c32e-f326-52c0-b6dd-484d1b6181f3/scratchpad/crops/versio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63040"/>
            <a:ext cx="5440680" cy="179912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236208" y="3584448"/>
            <a:ext cx="5495544" cy="262407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3" descr="/tmp/claude-0/-home-user-semes-superrookie/4bb6c32e-f326-52c0-b6dd-484d1b6181f3/scratchpad/crops/diff_ch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611880"/>
            <a:ext cx="5440680" cy="256921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368735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1 · 요구사항 검토 ⑥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목록과 상태 흐름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435608"/>
            <a:ext cx="7004304" cy="32899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emes-superrookie/4bb6c32e-f326-52c0-b6dd-484d1b6181f3/scratchpad/crop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6949440" cy="32350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8463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· 버전 · 담당자 · 검출 건수를 한눈에 — 진행중/확정 필터, 담당자 필터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001000" y="155448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54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887968" y="2103120"/>
            <a:ext cx="237744" cy="320040"/>
          </a:xfrm>
          <a:prstGeom prst="downArrow">
            <a:avLst/>
          </a:prstGeom>
          <a:solidFill>
            <a:srgbClr val="D9DEE4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01000" y="246888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2468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합의 대기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887968" y="3017520"/>
            <a:ext cx="237744" cy="320040"/>
          </a:xfrm>
          <a:prstGeom prst="downArrow">
            <a:avLst/>
          </a:prstGeom>
          <a:solidFill>
            <a:srgbClr val="D9DEE4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01000" y="338328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3383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887968" y="3931920"/>
            <a:ext cx="237744" cy="320040"/>
          </a:xfrm>
          <a:prstGeom prst="downArrow">
            <a:avLst/>
          </a:prstGeom>
          <a:solidFill>
            <a:srgbClr val="D9DEE4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01000" y="429768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01000" y="4297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변경중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10149840" y="33832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재확정마다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+1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(변경중 → 합의 대기 → 확정)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195560" y="1554480"/>
            <a:ext cx="1463040" cy="502920"/>
          </a:xfrm>
          <a:prstGeom prst="roundRect">
            <a:avLst>
              <a:gd name="adj" fmla="val 21818"/>
            </a:avLst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195560" y="1554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보류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1014984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협의가 더 필요할 때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001000" y="5440680"/>
            <a:ext cx="3703320" cy="731520"/>
          </a:xfrm>
          <a:prstGeom prst="roundRect">
            <a:avLst>
              <a:gd name="adj" fmla="val 10000"/>
            </a:avLst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183880" y="5440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시맨틱 버전  MAJOR 요구 변경 · MINOR 해석 확정 · PATCH 문구 수정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11368735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2 · 산출물 도출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요구사항 1건 → 개발 이슈 N건 → 이슈마다 산출물 4종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65176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26517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req-pd-01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주행 v1.0.1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71800" y="3246120"/>
            <a:ext cx="548640" cy="-1399032"/>
          </a:xfrm>
          <a:prstGeom prst="line">
            <a:avLst/>
          </a:prstGeom>
          <a:noFill/>
          <a:ln w="19050">
            <a:solidFill>
              <a:srgbClr val="D9DE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20440" y="1508760"/>
            <a:ext cx="3291840" cy="676656"/>
          </a:xfrm>
          <a:prstGeom prst="roundRect">
            <a:avLst>
              <a:gd name="adj" fmla="val 10811"/>
            </a:avLst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1655064"/>
            <a:ext cx="384048" cy="384048"/>
          </a:xfrm>
          <a:prstGeom prst="ellipse">
            <a:avLst/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1508760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구역 진입 허가·순서 판정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71800" y="3246120"/>
            <a:ext cx="548640" cy="-466344"/>
          </a:xfrm>
          <a:prstGeom prst="line">
            <a:avLst/>
          </a:prstGeom>
          <a:noFill/>
          <a:ln w="19050">
            <a:solidFill>
              <a:srgbClr val="D9DE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2441448"/>
            <a:ext cx="3291840" cy="676656"/>
          </a:xfrm>
          <a:prstGeom prst="roundRect">
            <a:avLst>
              <a:gd name="adj" fmla="val 10811"/>
            </a:avLst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2587752"/>
            <a:ext cx="384048" cy="384048"/>
          </a:xfrm>
          <a:prstGeom prst="ellipse">
            <a:avLst/>
          </a:prstGeom>
          <a:solidFill>
            <a:srgbClr val="B08800"/>
          </a:solidFill>
          <a:ln w="12700">
            <a:solidFill>
              <a:srgbClr val="B088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160520" y="2441448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 명령 셋 연속 수행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71800" y="3246120"/>
            <a:ext cx="548640" cy="466344"/>
          </a:xfrm>
          <a:prstGeom prst="line">
            <a:avLst/>
          </a:prstGeom>
          <a:noFill/>
          <a:ln w="19050">
            <a:solidFill>
              <a:srgbClr val="D9DE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0440" y="3374136"/>
            <a:ext cx="3291840" cy="676656"/>
          </a:xfrm>
          <a:prstGeom prst="roundRect">
            <a:avLst>
              <a:gd name="adj" fmla="val 10811"/>
            </a:avLst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0" y="3520440"/>
            <a:ext cx="384048" cy="384048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160520" y="3374136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이상 시 일시 정지·보고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971800" y="3246120"/>
            <a:ext cx="548640" cy="1399032"/>
          </a:xfrm>
          <a:prstGeom prst="line">
            <a:avLst/>
          </a:prstGeom>
          <a:noFill/>
          <a:ln w="19050">
            <a:solidFill>
              <a:srgbClr val="D9DE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0440" y="4306824"/>
            <a:ext cx="3291840" cy="676656"/>
          </a:xfrm>
          <a:prstGeom prst="roundRect">
            <a:avLst>
              <a:gd name="adj" fmla="val 10811"/>
            </a:avLst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0" y="4453128"/>
            <a:ext cx="384048" cy="384048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5760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160520" y="4306824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프로버 작업 구간 진입 제어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54380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1건당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43800" y="150876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43800" y="150876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99248" y="1783080"/>
            <a:ext cx="228600" cy="228600"/>
          </a:xfrm>
          <a:prstGeom prst="ellipse">
            <a:avLst/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9244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SWVOC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09244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요청자 취지 · 요청사항 · 특이사항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543800" y="2441448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43800" y="2441448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99248" y="2715768"/>
            <a:ext cx="228600" cy="228600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92440" y="25328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요구사항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092440" y="2852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개요(역할·목적) + 동작 정의(기본·예외)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543800" y="3374136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43800" y="3374136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99248" y="3648456"/>
            <a:ext cx="228600" cy="228600"/>
          </a:xfrm>
          <a:prstGeom prst="ellipse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92440" y="34655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비기능 요구사항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8092440" y="3785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구조 + 정량 제약(성능·가용성)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543800" y="4306824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43800" y="4306824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99248" y="4581144"/>
            <a:ext cx="228600" cy="228600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092440" y="43982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Detail Design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8092440" y="47183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 Diagram + Sequence AS-IS/TO-BE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903720" y="3017520"/>
            <a:ext cx="457200" cy="411480"/>
          </a:xfrm>
          <a:prstGeom prst="rightArrow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02920" y="5394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4000" dirty="0"/>
          </a:p>
        </p:txBody>
      </p:sp>
      <p:sp>
        <p:nvSpPr>
          <p:cNvPr id="49" name="Text 47"/>
          <p:cNvSpPr txBox="1"/>
          <p:nvPr/>
        </p:nvSpPr>
        <p:spPr>
          <a:xfrm>
            <a:off x="1005840" y="5715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2697480" y="5394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4000" dirty="0"/>
          </a:p>
        </p:txBody>
      </p:sp>
      <p:sp>
        <p:nvSpPr>
          <p:cNvPr id="51" name="Text 49"/>
          <p:cNvSpPr txBox="1"/>
          <p:nvPr/>
        </p:nvSpPr>
        <p:spPr>
          <a:xfrm>
            <a:off x="3200400" y="5715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이슈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4892040" y="5394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6E40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4000" dirty="0"/>
          </a:p>
        </p:txBody>
      </p:sp>
      <p:sp>
        <p:nvSpPr>
          <p:cNvPr id="53" name="Text 51"/>
          <p:cNvSpPr txBox="1"/>
          <p:nvPr/>
        </p:nvSpPr>
        <p:spPr>
          <a:xfrm>
            <a:off x="5760720" y="5715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초안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6949440" y="5532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항목을 AI가 초안으로 채우고, 사람은 그 위에서 검토·수정·확정만 한다 (빈 칸 없음)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11368735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2 · 산출물 도출 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나누기 — AI가 구현 단위 경계를 제안하고, 사람이 다듬어 확정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5150918" cy="49926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emes-superrookie/4bb6c32e-f326-52c0-b6dd-484d1b6181f3/scratchpad/crops/split_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5096054" cy="4937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70448" y="1389888"/>
            <a:ext cx="5215845" cy="35295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/tmp/claude-0/-home-user-semes-superrookie/4bb6c32e-f326-52c0-b6dd-484d1b6181f3/scratchpad/crops/split_car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417320"/>
            <a:ext cx="5160981" cy="34747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897880" y="5120640"/>
            <a:ext cx="5806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 기준 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"서로 다른 기능·모듈로 나눠 개발할 수 있는 지점"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인용 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이슈가 커버하는 구절을 원문 그대로 인용 → 같은 색 형광펜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조정 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제목·구절 수정, 이슈 추가·삭제, 참고 지시로 AI 재분할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11368735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2 · 산출물 도출 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 확정 즉시 이슈마다 산출물 4종을 한꺼번에 생성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3572615" cy="49926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emes-superrookie/4bb6c32e-f326-52c0-b6dd-484d1b6181f3/scratchpad/crops/issue_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3517751" cy="4937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0" y="1508760"/>
            <a:ext cx="7132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일괄 생성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분할을 확정하면 백엔드가 16건 생성을 비동기로 던져 둔다 (동시 3건)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맥락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프로젝트의 다른 요구사항을 함께 넘겨 클래스·용어 이름을 맞춘다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지식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VCS 8개 모듈(operation · hostinterface · jobassign …)을 프롬프트에 포함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검증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응답이 양식 필드를 갖추지 못하면 버리고 규칙 기반 초안으로 대체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0" y="3566160"/>
            <a:ext cx="7132320" cy="1188720"/>
          </a:xfrm>
          <a:prstGeom prst="roundRect">
            <a:avLst>
              <a:gd name="adj" fmla="val 6154"/>
            </a:avLst>
          </a:prstGeom>
          <a:solidFill>
            <a:srgbClr val="F1ECFB"/>
          </a:solidFill>
          <a:ln w="12700">
            <a:solidFill>
              <a:srgbClr val="F1EC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356616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40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카드의 SWVOC · 기능 · 비기능 · Design 칩을 누르면 해당 산출물 화면으로 바로 이동 — 화면을 열 때는 이미 초안이 채워져 있다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368735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2 · 산출물 도출 ③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요구사항 — 이슈 1 "대기 구역 진입 허가·순서 판정"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5495270" cy="49926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emes-superrookie/4bb6c32e-f326-52c0-b6dd-484d1b6181f3/scratchpad/crops/functio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5440406" cy="4937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629400" y="1508760"/>
            <a:ext cx="5074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역할(Operation의 EntryDecisionService) · 목적(허가 미확인 진입 차단, 순서 일관성)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정의 · 기본 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 간격 갱신 → 대기 노드 도착 시 최신 값으로 판정 → 도착 시각 순(동률 시 Task 생성 시각) 진입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정의 · 예외 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허가 거부·미수신, 상태 갱신 끊김 → 대기 유지, 다음 주기 재판정, 사유 로그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629400" y="507492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E3F1F1"/>
          </a:solidFill>
          <a:ln w="12700">
            <a:solidFill>
              <a:srgbClr val="E3F1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0" y="507492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요구사항의 문구(1초 간격, 도착 시각 순, Task 생성 시각 순)가 그대로 시나리오에 반영됐다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1368735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2 · 산출물 도출 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SWVOC와 비기능 요구사항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5123922" cy="43525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emes-superrookie/4bb6c32e-f326-52c0-b6dd-484d1b6181f3/scratchpad/crops/voc_i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5069058" cy="4297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58521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SWVOC (이슈 1) — 요청 취지 · 요청사항 · 특이사항(관련 요구사항과의 관계)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144768" y="1389888"/>
            <a:ext cx="5586984" cy="2682621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/tmp/claude-0/-home-user-semes-superrookie/4bb6c32e-f326-52c0-b6dd-484d1b6181f3/scratchpad/crops/nonfunc_i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17320"/>
            <a:ext cx="5532120" cy="262775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172200" y="420624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비기능 요구사항 (이슈 3 "설비 이상 시 일시 정지·보고") — 동작 정의 · 제약사항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172200" y="4663440"/>
            <a:ext cx="5532120" cy="1463040"/>
          </a:xfrm>
          <a:prstGeom prst="roundRect">
            <a:avLst>
              <a:gd name="adj" fmla="val 5000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0" y="4800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8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제약까지 초안으로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0" y="51663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한도 3분(v1.0.1 기준) · 한도 도달 후 알람 1초 이내 · 재기동 시 대기 시작 시각 복원 — 확정본 변경(5분→3분)이 산출물에도 그대로 반영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11368735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2 · 산출물 도출 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Detail Design — 영향 클래스와 AS-IS / TO-BE 시퀀스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4535424" cy="3614761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emes-superrookie/4bb6c32e-f326-52c0-b6dd-484d1b6181f3/scratchpad/crops/dd_c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4480560" cy="355989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5852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 Diagram — 변경 클래스 체크, 필드·메서드 편집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34924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 시퀀스 — Mermaid 코드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21808" y="1664208"/>
            <a:ext cx="3163824" cy="219301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/tmp/claude-0/-home-user-semes-superrookie/4bb6c32e-f326-52c0-b6dd-484d1b6181f3/scratchpad/crops/dd_code_t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691640"/>
            <a:ext cx="3108960" cy="213815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4108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코드의 렌더링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613648" y="1664208"/>
            <a:ext cx="3118104" cy="225546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/tmp/claude-0/-home-user-semes-superrookie/4bb6c32e-f326-52c0-b6dd-484d1b6181f3/scratchpad/crops/dd_render_t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691640"/>
            <a:ext cx="3063240" cy="22006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49240" y="4343400"/>
            <a:ext cx="6355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 클래스 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EntryDecisionService · EquipmentStatusCache · WaitingNodeQueue · EntryParameter(변경), NewAmosClient(기존)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→ TO-BE 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허가 받으면 바로 진입 → 1초 주기 캐시 갱신 + 대기 큐 등록 + 최신 값 기준 판정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 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Mermaid 코드를 직접 고치면 렌더링에 바로 반영, 복사 버튼으로 문서에 붙여넣기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11368735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2 · 산출물 도출 ⑥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 시퀀스 확대 — 이슈 4 "프로버 작업 구간 진입 제어"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4992624" cy="4986815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tmp/claude-0/-home-user-semes-superrookie/4bb6c32e-f326-52c0-b6dd-484d1b6181f3/scratchpad/crops/zoom_i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4937760" cy="49319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06440" y="1554480"/>
            <a:ext cx="5897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3항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구간 점유 대수 0대·1대(경로 1개/2개)·2대 이상 분기가 alt 블록으로 표현됨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1항과의 관계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"진입 허가 확인(1항)" 뒤에 canEnter()를 호출 — 검토 단계에서 명확히 한 선후 관계가 설계까지 이어짐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재생성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"AI로 재생성" 칸에 참고 지시를 적으면 진행 표시와 함께 다시 생성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검토·수정한 뒤 확정 → 상태 "검토 대기" → "확정"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06440" y="5440680"/>
            <a:ext cx="5897880" cy="822960"/>
          </a:xfrm>
          <a:prstGeom prst="roundRect">
            <a:avLst>
              <a:gd name="adj" fmla="val 8889"/>
            </a:avLst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89320" y="54406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클릭하면 확대 · 코드 창은 스크롤 · 렌더 오류가 나도 페이지가 깨지지 않도록 처리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368735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결과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1건이 시스템을 거쳐 나온 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590724" cy="2011680"/>
          </a:xfrm>
          <a:prstGeom prst="roundRect">
            <a:avLst>
              <a:gd name="adj" fmla="val 3636"/>
            </a:avLst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20420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E09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검출된 불명확 구절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20420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1 + LLM 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67964" y="1554480"/>
            <a:ext cx="2590724" cy="2011680"/>
          </a:xfrm>
          <a:prstGeom prst="roundRect">
            <a:avLst>
              <a:gd name="adj" fmla="val 3636"/>
            </a:avLst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42284" y="1691640"/>
            <a:ext cx="20420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3642284" y="269748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버전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42284" y="3063240"/>
            <a:ext cx="20420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v1.0.0 → v1.0.1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3008" y="1554480"/>
            <a:ext cx="2590724" cy="2011680"/>
          </a:xfrm>
          <a:prstGeom prst="roundRect">
            <a:avLst>
              <a:gd name="adj" fmla="val 3636"/>
            </a:avLst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07328" y="1691640"/>
            <a:ext cx="20420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6507328" y="269748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이슈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07328" y="3063240"/>
            <a:ext cx="20420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분할 후 확정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98051" y="1554480"/>
            <a:ext cx="2590724" cy="2011680"/>
          </a:xfrm>
          <a:prstGeom prst="roundRect">
            <a:avLst>
              <a:gd name="adj" fmla="val 3636"/>
            </a:avLst>
          </a:prstGeom>
          <a:solidFill>
            <a:srgbClr val="F5F7F9"/>
          </a:solidFill>
          <a:ln w="12700">
            <a:solidFill>
              <a:srgbClr val="F5F7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72371" y="1691640"/>
            <a:ext cx="20420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6E40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5400" dirty="0"/>
          </a:p>
        </p:txBody>
      </p:sp>
      <p:sp>
        <p:nvSpPr>
          <p:cNvPr id="18" name="Text 16"/>
          <p:cNvSpPr txBox="1"/>
          <p:nvPr/>
        </p:nvSpPr>
        <p:spPr>
          <a:xfrm>
            <a:off x="9372371" y="269748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초안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372371" y="3063240"/>
            <a:ext cx="20420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이슈당 4종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(목표치 — 파일럿에서 실측 예정)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343400"/>
          <a:ext cx="1118585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291840"/>
                <a:gridCol w="423641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수작업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1건의 산출물 작성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 3시간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5분 이내 초안 + 검토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불명확·상충 발견 시점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중·후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착수 전 검토 단계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 이력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메일·문서 뒤지기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버전 이력 + diff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11368735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계획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기능 3 · 외부 연동, 11월 검증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20095" cy="0"/>
          </a:xfrm>
          <a:prstGeom prst="line">
            <a:avLst/>
          </a:prstGeom>
          <a:noFill/>
          <a:ln w="25400">
            <a:solidFill>
              <a:srgbClr val="D9DE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37360"/>
            <a:ext cx="274320" cy="274320"/>
          </a:xfrm>
          <a:prstGeom prst="ellipse">
            <a:avLst/>
          </a:prstGeom>
          <a:solidFill>
            <a:srgbClr val="0F717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25880"/>
            <a:ext cx="252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상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94560"/>
            <a:ext cx="252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3 추적성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06040"/>
            <a:ext cx="2476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요구사항↔산출물 링크, 변경 시 영향 산출물 자동 표시(영향받음/없음)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90824" y="1737360"/>
            <a:ext cx="274320" cy="274320"/>
          </a:xfrm>
          <a:prstGeom prst="ellipse">
            <a:avLst/>
          </a:prstGeom>
          <a:solidFill>
            <a:srgbClr val="0F717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90824" y="1325880"/>
            <a:ext cx="252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하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390824" y="2194560"/>
            <a:ext cx="252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연동·통합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390824" y="2606040"/>
            <a:ext cx="2476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docx 명세서 파싱 입력, Jira 이슈 연동, 이슈 상세 화면 실데이터 연결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87288" y="1737360"/>
            <a:ext cx="274320" cy="274320"/>
          </a:xfrm>
          <a:prstGeom prst="ellipse">
            <a:avLst/>
          </a:prstGeom>
          <a:solidFill>
            <a:srgbClr val="0F717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87288" y="1325880"/>
            <a:ext cx="252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 초중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187288" y="2194560"/>
            <a:ext cx="252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검증·안정화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187288" y="2606040"/>
            <a:ext cx="2476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LLM 품질·응답 시간 실측, 파일럿·피드백, 프롬프트 튜닝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83751" y="1737360"/>
            <a:ext cx="274320" cy="274320"/>
          </a:xfrm>
          <a:prstGeom prst="ellipse">
            <a:avLst/>
          </a:prstGeom>
          <a:solidFill>
            <a:srgbClr val="1226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83751" y="1325880"/>
            <a:ext cx="252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1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 말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983751" y="2194560"/>
            <a:ext cx="252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최종보고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983751" y="2606040"/>
            <a:ext cx="2476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결과·성과 정리 (실측 효과 포함)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이슈 · 리스크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4572000"/>
            <a:ext cx="111858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LLM 실측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품질·지연을 폐쇄망 실서버에서 측정해야 함 (타임아웃 시 규칙 기반 폴백은 구현 완료)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정의 행 수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DESIGN은 기본·변형·예외 9행, 현재 구현은 기본·예외 6행 — 양식 확정 필요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상세 화면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현상 기록·변경 범위 등 본문 필드는 아직 목업 — 산출물 4종과 같은 방식으로 AI 초안 연결 예정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368735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FB8B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질의응답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303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등록·검토 → 고객 합의·버전 → 이슈 분할 → 산출물 4종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고객 요구사항 검토 및 개발 산출물 자동 생성 도구 — 중간보고</dc:title>
  <dc:subject>PptxGenJS Presentation</dc:subject>
  <dc:creator>PptxGenJS</dc:creator>
  <cp:lastModifiedBy>PptxGenJS</cp:lastModifiedBy>
  <cp:revision>1</cp:revision>
  <dcterms:created xsi:type="dcterms:W3CDTF">2026-09-23T04:20:02Z</dcterms:created>
  <dcterms:modified xsi:type="dcterms:W3CDTF">2026-09-23T04:20:02Z</dcterms:modified>
</cp:coreProperties>
</file>