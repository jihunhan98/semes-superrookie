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프로젝트 개요와 지금까지의 진행 상황을 파트원과 공유하기 위한 중간 보고입니다.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1B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463040"/>
            <a:ext cx="4206240" cy="4206240"/>
          </a:xfrm>
          <a:prstGeom prst="ellipse">
            <a:avLst/>
          </a:prstGeom>
          <a:solidFill>
            <a:srgbClr val="312E81"/>
          </a:solidFill>
          <a:ln/>
        </p:spPr>
      </p:sp>
      <p:sp>
        <p:nvSpPr>
          <p:cNvPr id="3" name="Shape 1"/>
          <p:cNvSpPr/>
          <p:nvPr/>
        </p:nvSpPr>
        <p:spPr>
          <a:xfrm>
            <a:off x="10789920" y="4206240"/>
            <a:ext cx="3108960" cy="3108960"/>
          </a:xfrm>
          <a:prstGeom prst="ellipse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-914400" y="4754880"/>
            <a:ext cx="2926080" cy="2926080"/>
          </a:xfrm>
          <a:prstGeom prst="ellipse">
            <a:avLst/>
          </a:prstGeom>
          <a:solidFill>
            <a:srgbClr val="312E81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9202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C7D2F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SEMES · VCS   |   파트 진행 공유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66928" y="233172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요구사항 문서화 자동화</a:t>
            </a:r>
            <a:endParaRPr lang="en-US" sz="4600" dirty="0"/>
          </a:p>
        </p:txBody>
      </p:sp>
      <p:sp>
        <p:nvSpPr>
          <p:cNvPr id="7" name="Text 5"/>
          <p:cNvSpPr/>
          <p:nvPr/>
        </p:nvSpPr>
        <p:spPr>
          <a:xfrm>
            <a:off x="566928" y="342900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7D2F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요구사항을 검토하고, 우리 프로젝트에 필요한 문서·티켓을 자동으로 만들어 주는 도구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66928" y="59436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5B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 07  ·  중간 진행 공유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배경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필요한가 — 세 가지 문제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920240"/>
            <a:ext cx="502920" cy="502920"/>
          </a:xfrm>
          <a:prstGeom prst="ellipse">
            <a:avLst/>
          </a:prstGeom>
          <a:solidFill>
            <a:srgbClr val="EEF2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225296" y="1865376"/>
            <a:ext cx="5669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요구사항의 불명확한 표현
</a:t>
            </a:r>
            <a:pPr algn="l"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요구사항 명세서에 고객사와 세메스가 다르게 해석하거나, 추가 정의가 필요한 문장이 많다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66928" y="3218688"/>
            <a:ext cx="502920" cy="502920"/>
          </a:xfrm>
          <a:prstGeom prst="ellipse">
            <a:avLst/>
          </a:prstGeom>
          <a:solidFill>
            <a:srgbClr val="EEF2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225296" y="3163824"/>
            <a:ext cx="5669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문서 작업량 과다
</a:t>
            </a:r>
            <a:pPr algn="l"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요구사항마다 기능·비기능 요구사항과 Jira 이슈를 개발자가 일일이 작성 → 공수가 크게 든다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66928" y="4517136"/>
            <a:ext cx="502920" cy="502920"/>
          </a:xfrm>
          <a:prstGeom prst="ellipse">
            <a:avLst/>
          </a:prstGeom>
          <a:solidFill>
            <a:srgbClr val="EEF2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225296" y="4462272"/>
            <a:ext cx="5669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변경 추적 어려움
</a:t>
            </a:r>
            <a:pPr algn="l"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요구사항이 변경될 때마다 영향받는 기능·문서를 일일이 찾아 확인·수정해야 한다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7040880" y="1691640"/>
            <a:ext cx="4572000" cy="3840480"/>
          </a:xfrm>
          <a:prstGeom prst="roundRect">
            <a:avLst>
              <a:gd name="adj" fmla="val 2857"/>
            </a:avLst>
          </a:prstGeom>
          <a:solidFill>
            <a:srgbClr val="1E1B4B"/>
          </a:solidFill>
          <a:ln/>
          <a:effectLst>
            <a:outerShdw sx="100000" sy="100000" kx="0" ky="0" algn="bl" rotWithShape="0" blurRad="127000" dist="50800" dir="5400000">
              <a:srgbClr val="1E1B4B">
                <a:alpha val="1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7360920" y="205740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7D2F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그래서, 이 도구는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7360920" y="260604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E0E7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“수작업을 없앤다”가 아니라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7360920" y="3108960"/>
            <a:ext cx="41148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틀(템플릿) + 초안으로</a:t>
            </a:r>
            <a:endParaRPr lang="en-US" sz="2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방대한 문서 작성을</a:t>
            </a:r>
            <a:endParaRPr lang="en-US" sz="2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크게 덜어 준다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7360920" y="489204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5B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착수 전에 불명확·상충까지 잡아 재작업을 줄인다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3가지 · 진행상황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645920"/>
            <a:ext cx="3529584" cy="2487168"/>
          </a:xfrm>
          <a:prstGeom prst="roundRect">
            <a:avLst>
              <a:gd name="adj" fmla="val 330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50800" dir="5400000">
              <a:srgbClr val="1E1B4B">
                <a:alpha val="1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59536" y="1874520"/>
            <a:ext cx="548640" cy="548640"/>
          </a:xfrm>
          <a:prstGeom prst="ellipse">
            <a:avLst/>
          </a:prstGeom>
          <a:solidFill>
            <a:srgbClr val="6366F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527048" y="1938528"/>
            <a:ext cx="23408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1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527048" y="2176272"/>
            <a:ext cx="23865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요구사항 검토</a:t>
            </a:r>
            <a:endParaRPr lang="en-US" sz="1550" dirty="0"/>
          </a:p>
        </p:txBody>
      </p:sp>
      <p:sp>
        <p:nvSpPr>
          <p:cNvPr id="8" name="Text 6"/>
          <p:cNvSpPr/>
          <p:nvPr/>
        </p:nvSpPr>
        <p:spPr>
          <a:xfrm>
            <a:off x="859536" y="2651760"/>
            <a:ext cx="29443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불명확·상충 요구를 LLM이 검출·제안 → 협의·확정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59536" y="361188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D1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완료 · 테스트됨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407408" y="1645920"/>
            <a:ext cx="3529584" cy="2487168"/>
          </a:xfrm>
          <a:prstGeom prst="roundRect">
            <a:avLst>
              <a:gd name="adj" fmla="val 330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50800" dir="5400000">
              <a:srgbClr val="1E1B4B">
                <a:alpha val="1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700016" y="1874520"/>
            <a:ext cx="548640" cy="548640"/>
          </a:xfrm>
          <a:prstGeom prst="ellipse">
            <a:avLst/>
          </a:prstGeom>
          <a:solidFill>
            <a:srgbClr val="EEF2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5367528" y="1938528"/>
            <a:ext cx="23408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2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367528" y="2176272"/>
            <a:ext cx="23865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산출물 도출</a:t>
            </a:r>
            <a:endParaRPr lang="en-US" sz="1550" dirty="0"/>
          </a:p>
        </p:txBody>
      </p:sp>
      <p:sp>
        <p:nvSpPr>
          <p:cNvPr id="14" name="Text 12"/>
          <p:cNvSpPr/>
          <p:nvPr/>
        </p:nvSpPr>
        <p:spPr>
          <a:xfrm>
            <a:off x="4700016" y="2651760"/>
            <a:ext cx="29443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확정 요구사항에서 티켓·문서 초안을 자동 도출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700016" y="361188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FEF3C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 예정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8247888" y="1645920"/>
            <a:ext cx="3529584" cy="2487168"/>
          </a:xfrm>
          <a:prstGeom prst="roundRect">
            <a:avLst>
              <a:gd name="adj" fmla="val 330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50800" dir="5400000">
              <a:srgbClr val="1E1B4B">
                <a:alpha val="1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8540496" y="1874520"/>
            <a:ext cx="548640" cy="548640"/>
          </a:xfrm>
          <a:prstGeom prst="ellipse">
            <a:avLst/>
          </a:prstGeom>
          <a:solidFill>
            <a:srgbClr val="EEF2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9208008" y="1938528"/>
            <a:ext cx="23408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3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9208008" y="2176272"/>
            <a:ext cx="23865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산출물 관리 (추적성)</a:t>
            </a:r>
            <a:endParaRPr lang="en-US" sz="1550" dirty="0"/>
          </a:p>
        </p:txBody>
      </p:sp>
      <p:sp>
        <p:nvSpPr>
          <p:cNvPr id="20" name="Text 18"/>
          <p:cNvSpPr/>
          <p:nvPr/>
        </p:nvSpPr>
        <p:spPr>
          <a:xfrm>
            <a:off x="8540496" y="2651760"/>
            <a:ext cx="29443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요구사항↔산출물 연결·변경 영향·진행 관리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8540496" y="361188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FEF3C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 예정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66928" y="4370832"/>
            <a:ext cx="11064240" cy="1783080"/>
          </a:xfrm>
          <a:prstGeom prst="roundRect">
            <a:avLst>
              <a:gd name="adj" fmla="val 5641"/>
            </a:avLst>
          </a:prstGeom>
          <a:solidFill>
            <a:srgbClr val="1E1B4B"/>
          </a:solidFill>
          <a:ln/>
          <a:effectLst>
            <a:outerShdw sx="100000" sy="100000" kx="0" ky="0" algn="bl" rotWithShape="0" blurRad="127000" dist="50800" dir="5400000">
              <a:srgbClr val="1E1B4B">
                <a:alpha val="18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5806440" y="4709160"/>
            <a:ext cx="0" cy="1097280"/>
          </a:xfrm>
          <a:prstGeom prst="line">
            <a:avLst/>
          </a:prstGeom>
          <a:noFill/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78408" y="46451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A5B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기대 효과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978408" y="4956048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업무 효율성이 크게 올라갑니다</a:t>
            </a:r>
            <a:endParaRPr lang="en-US" sz="2100" dirty="0"/>
          </a:p>
        </p:txBody>
      </p:sp>
      <p:sp>
        <p:nvSpPr>
          <p:cNvPr id="26" name="Text 24"/>
          <p:cNvSpPr/>
          <p:nvPr/>
        </p:nvSpPr>
        <p:spPr>
          <a:xfrm>
            <a:off x="978408" y="5468112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7D2F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요구사항 검토부터 산출물 작성까지 한 흐름으로 자동화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6126480" y="4590288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5B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하나의 기능에 대한 산출물 작성 소요시간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6035040" y="4983480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C7D2F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평균 3시간</a:t>
            </a:r>
            <a:endParaRPr lang="en-US" sz="2200" dirty="0"/>
          </a:p>
        </p:txBody>
      </p:sp>
      <p:sp>
        <p:nvSpPr>
          <p:cNvPr id="29" name="Text 27"/>
          <p:cNvSpPr/>
          <p:nvPr/>
        </p:nvSpPr>
        <p:spPr>
          <a:xfrm>
            <a:off x="8412480" y="49834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818CF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</a:t>
            </a:r>
            <a:endParaRPr lang="en-US" sz="2600" dirty="0"/>
          </a:p>
        </p:txBody>
      </p:sp>
      <p:sp>
        <p:nvSpPr>
          <p:cNvPr id="30" name="Text 28"/>
          <p:cNvSpPr/>
          <p:nvPr/>
        </p:nvSpPr>
        <p:spPr>
          <a:xfrm>
            <a:off x="9006840" y="4937760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5분 이내</a:t>
            </a:r>
            <a:endParaRPr lang="en-US" sz="3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시스템 구성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폐쇄망 안 3계층 + 데이터베이스</a:t>
            </a:r>
            <a:endParaRPr lang="en-US" sz="3000" dirty="0"/>
          </a:p>
        </p:txBody>
      </p:sp>
      <p:pic>
        <p:nvPicPr>
          <p:cNvPr id="4" name="Image 0" descr="/home/user/semes-superrookie/docs/img/ppt-arch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36876" y="1691640"/>
            <a:ext cx="7315200" cy="422087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1 · 요구사항 검토 ①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불명확·상충 검출 &amp; AI 제안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9875520" y="82296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D1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완료 · 테스트됨</a:t>
            </a:r>
            <a:endParaRPr lang="en-US" sz="1100" dirty="0"/>
          </a:p>
        </p:txBody>
      </p:sp>
      <p:pic>
        <p:nvPicPr>
          <p:cNvPr id="5" name="Image 0" descr="/home/user/semes-superrookie/docs/img/ppt-review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8076" y="1737360"/>
            <a:ext cx="10972800" cy="405627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66928" y="59436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AI가 무엇이·왜 문제인지 검출하고, “이렇게 쓰면 명확”을 제안한다 (불명확한 표현 + 상충되는 요구)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1 · 요구사항 검토 ②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제안 → 협의 → 확정 (Before / After)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9875520" y="82296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D1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완료 · 테스트됨</a:t>
            </a:r>
            <a:endParaRPr lang="en-US" sz="1100" dirty="0"/>
          </a:p>
        </p:txBody>
      </p:sp>
      <p:pic>
        <p:nvPicPr>
          <p:cNvPr id="5" name="Image 0" descr="/home/user/semes-superrookie/docs/img/ppt-review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8076" y="1737360"/>
            <a:ext cx="10972800" cy="398129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66928" y="59436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개발자가 AI 제안을 근거로 고객사와 협의·확정하고, 이전 요구사항과 비교해 관리한다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1 · 요구사항 검토 ③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실제 예시 — 검출 → AI 제안 → 수정·확정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9875520" y="82296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D1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완료 · 테스트됨</a:t>
            </a:r>
            <a:endParaRPr lang="en-US" sz="1100" dirty="0"/>
          </a:p>
        </p:txBody>
      </p:sp>
      <p:pic>
        <p:nvPicPr>
          <p:cNvPr id="5" name="Image 0" descr="/home/user/semes-superrookie/docs/img/ppt-review-real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79476" y="2286000"/>
            <a:ext cx="11430000" cy="338876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66928" y="59893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검출된 항목마다 AI 제안을 보고, 그 제안을 반영해 본문을 직접 수정·확정한다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1 · 요구사항 검토 ④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실제 예시 — Before / After (항목별)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9875520" y="82296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D1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완료 · 테스트됨</a:t>
            </a:r>
            <a:endParaRPr lang="en-US" sz="1100" dirty="0"/>
          </a:p>
        </p:txBody>
      </p:sp>
      <p:pic>
        <p:nvPicPr>
          <p:cNvPr id="5" name="Image 0" descr="/home/user/semes-superrookie/docs/img/ppt-review-real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79476" y="2377440"/>
            <a:ext cx="11430000" cy="295808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1 · 요구사항 검토 ⑤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실제 예시 — Before / After (전체 요구사항)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9875520" y="82296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D1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완료 · 테스트됨</a:t>
            </a:r>
            <a:endParaRPr lang="en-US" sz="1100" dirty="0"/>
          </a:p>
        </p:txBody>
      </p:sp>
      <p:pic>
        <p:nvPicPr>
          <p:cNvPr id="5" name="Image 0" descr="/home/user/semes-superrookie/docs/img/ppt-review-real-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79476" y="2286000"/>
            <a:ext cx="11430000" cy="3115361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산출물 도출 — 요구사항 → 개발 이슈 N개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424160" y="82296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FEF3C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 예정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66928" y="17373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도출 </a:t>
            </a:r>
            <a:pPr indent="0" marL="0">
              <a:buNone/>
            </a:pPr>
            <a:r>
              <a:rPr lang="en-US" sz="145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— 확정 요구사항 1개에서 개발 이슈(티켓) N개를 도출하고, 개발 이슈마다 SWVOC·기능/비기능 요구사항·Detail Design을 각각 자동 생성한다.</a:t>
            </a:r>
            <a:endParaRPr lang="en-US" sz="1450" dirty="0"/>
          </a:p>
        </p:txBody>
      </p:sp>
      <p:pic>
        <p:nvPicPr>
          <p:cNvPr id="6" name="Image 0" descr="/home/user/semes-superrookie/docs/img/ppt-derive-flo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2212848"/>
            <a:ext cx="10515600" cy="3970325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2 · 산출물 도출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산출물 커버리지 — 항목별로 누가 쓰나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424160" y="82296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FEF3C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 예정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66928" y="1316736"/>
            <a:ext cx="11064240" cy="932688"/>
          </a:xfrm>
          <a:prstGeom prst="roundRect">
            <a:avLst>
              <a:gd name="adj" fmla="val 8824"/>
            </a:avLst>
          </a:prstGeom>
          <a:solidFill>
            <a:srgbClr val="F8FAFF"/>
          </a:solidFill>
          <a:ln w="12700">
            <a:solidFill>
              <a:srgbClr val="C7D2F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86968" y="1399032"/>
            <a:ext cx="10424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판단 기준</a:t>
            </a:r>
            <a:pPr indent="0" marL="0">
              <a:buNone/>
            </a:pPr>
            <a:r>
              <a:rPr lang="en-US" sz="135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 이 항목을 「지금 받은 고객 요구서 + 정해진 문서 양식」만으로 채울 수 있는가?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886968" y="1700784"/>
            <a:ext cx="10424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38C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●  </a:t>
            </a:r>
            <a:pPr indent="0" marL="0">
              <a:buNone/>
            </a:pPr>
            <a:r>
              <a:rPr lang="en-US" sz="115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 → </a:t>
            </a:r>
            <a:pPr indent="0" marL="0">
              <a:buNone/>
            </a:pPr>
            <a:r>
              <a:rPr lang="en-US" sz="1150" b="1" dirty="0">
                <a:solidFill>
                  <a:srgbClr val="4338C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초안</a:t>
            </a:r>
            <a:pPr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 고객 요구를 요약·정형화·명세로 “옮기는” 일 — 입력이 다 주어져 있어 AI가 잘함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886968" y="1965960"/>
            <a:ext cx="10424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2410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●  </a:t>
            </a:r>
            <a:pPr indent="0" marL="0">
              <a:buNone/>
            </a:pPr>
            <a:r>
              <a:rPr lang="en-US" sz="115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아니오 → </a:t>
            </a:r>
            <a:pPr indent="0" marL="0">
              <a:buNone/>
            </a:pPr>
            <a:r>
              <a:rPr lang="en-US" sz="1150" b="1" dirty="0">
                <a:solidFill>
                  <a:srgbClr val="C2410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</a:t>
            </a:r>
            <a:pPr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 우리 시스템의 현재 상태(as-is)를 알아야 하거나 설계·예외 판단이 필요 — AI가 알 수 없는 정보</a:t>
            </a:r>
            <a:endParaRPr lang="en-US" sz="115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359152"/>
          <a:ext cx="1106424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6492240"/>
                <a:gridCol w="2377440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산출물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세부 항목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작성 주체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B4B"/>
                    </a:solidFill>
                  </a:tcPr>
                </a:tc>
              </a:tr>
              <a:tr h="201168">
                <a:tc rowSpan="5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  </a:t>
                      </a:r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개발 이슈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A5AEC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티켓 · Issue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현상기록 </a:t>
                      </a:r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47556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— 현재 동작·문제 상황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C2410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 vMerge="1">
                  <a:tcPr/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개선요청사항 </a:t>
                      </a:r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47556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— 고객이 원하는 변경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4338C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AI 초안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 vMerge="1">
                  <a:tcPr/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변경범위 </a:t>
                      </a:r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47556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— 영향 모듈·기능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C2410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 vMerge="1">
                  <a:tcPr/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제약사항 </a:t>
                      </a:r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47556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— 요구에 명시된 조건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4338C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AI 초안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 vMerge="1">
                  <a:tcPr/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변경 전·후 </a:t>
                      </a:r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47556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— 변경점 설계 내용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C2410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 row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  </a:t>
                      </a:r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Detail Design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A5AEC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상세설계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설명 </a:t>
                      </a:r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47556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— 기능 개요·구현 방향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4338C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AI 초안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201168">
                <a:tc vMerge="1">
                  <a:tcPr/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Class Diagram </a:t>
                      </a:r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47556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— 클래스 구조·관계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C2410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201168">
                <a:tc vMerge="1">
                  <a:tcPr/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Sequence Diagram (as-is·to-be) </a:t>
                      </a:r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47556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— 처리 흐름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C2410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201168">
                <a:tc row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  </a:t>
                      </a:r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SWVOC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A5AEC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고객 요청 원문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요청자 </a:t>
                      </a:r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47556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— 요청 부서·담당·대상 기능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C2410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 vMerge="1">
                  <a:tcPr/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요청사항 </a:t>
                      </a:r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47556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— 고객 요구를 양식에 맞춰 정리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4338C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AI 초안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 vMerge="1">
                  <a:tcPr/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특이사항 </a:t>
                      </a:r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47556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— 제약·주의·이력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C2410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 row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  </a:t>
                      </a:r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기능 요구사항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A5AEC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Function Requirement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개요 </a:t>
                      </a:r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47556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— 역할(시스템 내 책임)·목적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4338C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AI 초안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201168">
                <a:tc vMerge="1">
                  <a:tcPr/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동작 정의 </a:t>
                      </a:r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47556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— 기본·변형·예외 유형마다 선행·후행·시나리오 (총 9행)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4338C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AI 초안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201168">
                <a:tc vMerge="1">
                  <a:tcPr/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제약사항 </a:t>
                      </a:r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47556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— 성능·환경·인터페이스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4338C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AI 초안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201168">
                <a:tc row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  </a:t>
                      </a:r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비기능 요구사항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A5AEC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Non-functional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개요 </a:t>
                      </a:r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47556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— 품질 속성(성능·신뢰성·가용성)의 역할·목적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4338C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AI 초안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 vMerge="1">
                  <a:tcPr/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동작 정의 </a:t>
                      </a:r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47556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— 품질 항목마다 선행·후행·시나리오 (기능과 동일 9행)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4338C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AI 초안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 vMerge="1">
                  <a:tcPr/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제약사항 </a:t>
                      </a:r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47556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— 측정 기준·목표치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4338C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AI 초안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2 · 산출물 도출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산출물 5종 구조 한눈에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424160" y="82296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FEF3C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 예정</a:t>
            </a:r>
            <a:endParaRPr lang="en-US" sz="1100" dirty="0"/>
          </a:p>
        </p:txBody>
      </p:sp>
      <p:pic>
        <p:nvPicPr>
          <p:cNvPr id="5" name="Image 0" descr="/home/user/semes-superrookie/docs/img/ppt-derive-struc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6596" y="2057400"/>
            <a:ext cx="11795760" cy="334121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66928" y="58064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기능·비기능 요구사항의 “동작 정의”(기본·변형·예외 × 선행·후행·시나리오, 9행)가 AI 도출의 핵심</a:t>
            </a:r>
            <a:endParaRPr lang="en-US" sz="12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3 · 산출물 관리 ①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연결 관리 (추적성)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424160" y="82296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FEF3C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 예정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66928" y="1627632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연결 관리 </a:t>
            </a:r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— 요구사항 하나에 어떤 산출물(티켓·SWVOC·Function Requirement·Detail Design)이 물려 있는지 한눈에 (양방향 조회)</a:t>
            </a:r>
            <a:endParaRPr lang="en-US" sz="1400" dirty="0"/>
          </a:p>
        </p:txBody>
      </p:sp>
      <p:pic>
        <p:nvPicPr>
          <p:cNvPr id="6" name="Image 0" descr="/home/user/semes-superrookie/docs/img/ppt-trace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79476" y="2468880"/>
            <a:ext cx="11430000" cy="2988259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66928" y="58064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요구사항 1건 ↔ 기능별 티켓 3개, 각 티켓 아래 산출물 3종을 실제 Jira ID로 연결</a:t>
            </a:r>
            <a:endParaRPr lang="en-US" sz="12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3 · 산출물 관리 ②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변경 추적 (변경 영향 분석)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424160" y="82296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FEF3C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 예정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66928" y="137160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변경 추적 </a:t>
            </a:r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— 요구사항을 수정하면, 그 문장을 근거로 만든 산출물을 자동으로 찾아 알림</a:t>
            </a:r>
            <a:endParaRPr lang="en-US" sz="1400" dirty="0"/>
          </a:p>
        </p:txBody>
      </p:sp>
      <p:pic>
        <p:nvPicPr>
          <p:cNvPr id="6" name="Image 0" descr="/home/user/semes-superrookie/docs/img/ppt-trace-edi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5276" y="1737360"/>
            <a:ext cx="10058400" cy="277977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66928" y="4535424"/>
            <a:ext cx="11064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↓  저장 시 자동 추적</a:t>
            </a:r>
            <a:endParaRPr lang="en-US" sz="1300" dirty="0"/>
          </a:p>
        </p:txBody>
      </p:sp>
      <p:pic>
        <p:nvPicPr>
          <p:cNvPr id="8" name="Image 1" descr="/home/user/semes-superrookie/docs/img/ppt-trace-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5276" y="4882896"/>
            <a:ext cx="10058400" cy="1559052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— 두 엔진 비교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783080"/>
            <a:ext cx="5440680" cy="2697480"/>
          </a:xfrm>
          <a:prstGeom prst="roundRect">
            <a:avLst>
              <a:gd name="adj" fmla="val 3390"/>
            </a:avLst>
          </a:prstGeom>
          <a:solidFill>
            <a:srgbClr val="EEF2FF"/>
          </a:solidFill>
          <a:ln w="12700">
            <a:solidFill>
              <a:srgbClr val="C7D2F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86968" y="201168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로컬 Qwen3-8B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932688" y="2606040"/>
            <a:ext cx="47548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 워크스테이션(P4000 8GB)에서 직접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8B 모델 · GGUF 양자화 Q5_K_M(≈5.85GB)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오프라인 자립 · 한국어 강점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327648" y="1783080"/>
            <a:ext cx="5440680" cy="2697480"/>
          </a:xfrm>
          <a:prstGeom prst="roundRect">
            <a:avLst>
              <a:gd name="adj" fmla="val 3390"/>
            </a:avLst>
          </a:prstGeom>
          <a:solidFill>
            <a:srgbClr val="F5F3FF"/>
          </a:solidFill>
          <a:ln w="12700">
            <a:solidFill>
              <a:srgbClr val="DDD6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647688" y="201168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8B5C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사내 GPT-OSS-120B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6693408" y="2606040"/>
            <a:ext cx="47548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사내 LLM API 서비스(OpenAI 호환)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훨씬 큰 모델 → 어려운 판단 정확도 유리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공용 서버 의존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66928" y="4709160"/>
            <a:ext cx="11064240" cy="1463040"/>
          </a:xfrm>
          <a:prstGeom prst="roundRect">
            <a:avLst>
              <a:gd name="adj" fmla="val 6250"/>
            </a:avLst>
          </a:prstGeom>
          <a:solidFill>
            <a:srgbClr val="1E1B4B"/>
          </a:solidFill>
          <a:ln/>
          <a:effectLst>
            <a:outerShdw sx="100000" sy="100000" kx="0" ky="0" algn="bl" rotWithShape="0" blurRad="127000" dist="50800" dir="5400000">
              <a:srgbClr val="1E1B4B">
                <a:alpha val="1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86968" y="489204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응답 시간은 둘 다 3~5초로 비슷</a:t>
            </a:r>
            <a:pPr indent="0" marL="0">
              <a:buNone/>
            </a:pPr>
            <a:r>
              <a:rPr lang="en-US" sz="1350" dirty="0">
                <a:solidFill>
                  <a:srgbClr val="C7D2F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→ 속도가 아니라 정확도·자립성으로 선택. 동일 요구사항 세트로 실측 후 확정.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886968" y="544068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A5B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양자화란?</a:t>
            </a:r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C7D2F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사진을 JPG로 압축하듯 용량↓·품질 소폭↓. 8B 원본(≈16GB)은 8GB GPU에 못 올라가 5.85GB로 압축해 사용.</a:t>
            </a:r>
            <a:endParaRPr lang="en-US" sz="12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일정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 로드맵 · 마일스톤 (8 ~ 11월)</a:t>
            </a:r>
            <a:endParaRPr lang="en-US" sz="3000" dirty="0"/>
          </a:p>
        </p:txBody>
      </p:sp>
      <p:pic>
        <p:nvPicPr>
          <p:cNvPr id="4" name="Image 0" descr="/home/user/semes-superrookie/docs/img/ppt-roadma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6596" y="2148840"/>
            <a:ext cx="11795760" cy="3289097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66928" y="580644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과제 공식일정(◆ 8/10 계획 · 9/29 중간보고 · 11월 말 최종보고) 사이사이에 개발을 2단계씩, 총 4단계로 진행</a:t>
            </a:r>
            <a:endParaRPr lang="en-US" sz="12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E1B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0292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A5B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기대 효과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804672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수작업 문서화 공수를 크게 줄인다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920240"/>
            <a:ext cx="3529584" cy="3200400"/>
          </a:xfrm>
          <a:prstGeom prst="roundRect">
            <a:avLst>
              <a:gd name="adj" fmla="val 2857"/>
            </a:avLst>
          </a:prstGeom>
          <a:solidFill>
            <a:srgbClr val="312E81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1248" y="2331720"/>
            <a:ext cx="29809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7D2F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평균 3시간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841248" y="2926080"/>
            <a:ext cx="29809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5분 이내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41248" y="4114800"/>
            <a:ext cx="29809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A5B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하나의 기능에 대한 산출물 작성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407408" y="1920240"/>
            <a:ext cx="3529584" cy="3200400"/>
          </a:xfrm>
          <a:prstGeom prst="roundRect">
            <a:avLst>
              <a:gd name="adj" fmla="val 2857"/>
            </a:avLst>
          </a:prstGeom>
          <a:solidFill>
            <a:srgbClr val="312E81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681728" y="2331720"/>
            <a:ext cx="29809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7D2F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수동 확인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4681728" y="2926080"/>
            <a:ext cx="29809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자동 표시</a:t>
            </a:r>
            <a:endParaRPr lang="en-US" sz="3200" dirty="0"/>
          </a:p>
        </p:txBody>
      </p:sp>
      <p:sp>
        <p:nvSpPr>
          <p:cNvPr id="11" name="Text 9"/>
          <p:cNvSpPr/>
          <p:nvPr/>
        </p:nvSpPr>
        <p:spPr>
          <a:xfrm>
            <a:off x="4681728" y="4114800"/>
            <a:ext cx="29809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A5B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요구사항 변경 시 영향받는 문서 파악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247888" y="1920240"/>
            <a:ext cx="3529584" cy="3200400"/>
          </a:xfrm>
          <a:prstGeom prst="roundRect">
            <a:avLst>
              <a:gd name="adj" fmla="val 2857"/>
            </a:avLst>
          </a:prstGeom>
          <a:solidFill>
            <a:srgbClr val="312E81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522208" y="2331720"/>
            <a:ext cx="29809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7D2F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 중 발견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8522208" y="2926080"/>
            <a:ext cx="29809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착수 전 발견</a:t>
            </a:r>
            <a:endParaRPr lang="en-US" sz="3200" dirty="0"/>
          </a:p>
        </p:txBody>
      </p:sp>
      <p:sp>
        <p:nvSpPr>
          <p:cNvPr id="15" name="Text 13"/>
          <p:cNvSpPr/>
          <p:nvPr/>
        </p:nvSpPr>
        <p:spPr>
          <a:xfrm>
            <a:off x="8522208" y="4114800"/>
            <a:ext cx="29809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A5B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불명확·상충으로 인한 재작업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66928" y="58521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18CF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목표/예시 수치 — 실측으로 확정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정리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이슈 &amp; 다음 계획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783080"/>
            <a:ext cx="5349240" cy="3977640"/>
          </a:xfrm>
          <a:prstGeom prst="roundRect">
            <a:avLst>
              <a:gd name="adj" fmla="val 229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50800" dir="5400000">
              <a:srgbClr val="1E1B4B">
                <a:alpha val="1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86968" y="20116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해결한 이슈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86968" y="2514600"/>
            <a:ext cx="47091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NPM 빌드 실패</a:t>
            </a:r>
            <a:endParaRPr lang="en-US" sz="1400" dirty="0"/>
          </a:p>
          <a:p>
            <a:pPr indent="0" marL="0">
              <a:lnSpc>
                <a:spcPct val="110000"/>
              </a:lnSpc>
              <a:spcAft>
                <a:spcPts val="400"/>
              </a:spcAft>
              <a:buNone/>
            </a:pPr>
            <a:r>
              <a:rPr lang="en-US" sz="12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사내 프록시 SSL 검사로 npm/빌드가 인증서 오류</a:t>
            </a:r>
            <a:endParaRPr lang="en-US" sz="1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정적 빌드본을 포함해 npm 없이 실행하도록 해결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309360" y="1783080"/>
            <a:ext cx="5349240" cy="3977640"/>
          </a:xfrm>
          <a:prstGeom prst="roundRect">
            <a:avLst>
              <a:gd name="adj" fmla="val 2299"/>
            </a:avLst>
          </a:prstGeom>
          <a:solidFill>
            <a:srgbClr val="EEF2FF"/>
          </a:solidFill>
          <a:ln w="12700">
            <a:solidFill>
              <a:srgbClr val="C7D2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629400" y="20116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계획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629400" y="2514600"/>
            <a:ext cx="475488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5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판정 엔진 정확도 실측</a:t>
            </a:r>
            <a:endParaRPr lang="en-US" sz="1350" dirty="0"/>
          </a:p>
          <a:p>
            <a:pPr lvl="1" indent="0" marL="0">
              <a:spcAft>
                <a:spcPts val="1000"/>
              </a:spcAft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로컬 Qwen3-8B vs 사내 GPT-OSS-120B (한국어 검출)</a:t>
            </a:r>
            <a:endParaRPr lang="en-US" sz="13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5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문서 4종 양식 확정 → 템플릿·프롬프트화</a:t>
            </a:r>
            <a:endParaRPr lang="en-US" sz="1350" dirty="0"/>
          </a:p>
          <a:p>
            <a:pPr lvl="1" indent="0" marL="0">
              <a:spcAft>
                <a:spcPts val="1000"/>
              </a:spcAft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SWVOC · Function Requirement · Detail Design · 티켓</a:t>
            </a:r>
            <a:endParaRPr lang="en-US" sz="13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5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2 · 3 개발 (문서 생성 · 추적성)</a:t>
            </a:r>
            <a:endParaRPr lang="en-US" sz="1350" dirty="0"/>
          </a:p>
          <a:p>
            <a:pPr lvl="1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docx 표 파싱으로 요구사항 자동 입력</a:t>
            </a:r>
            <a:endParaRPr lang="en-US" sz="13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SEMES</dc:creator>
  <cp:lastModifiedBy>SEMES</cp:lastModifiedBy>
  <cp:revision>1</cp:revision>
  <dcterms:created xsi:type="dcterms:W3CDTF">2026-08-04T06:45:08Z</dcterms:created>
  <dcterms:modified xsi:type="dcterms:W3CDTF">2026-08-04T06:45:08Z</dcterms:modified>
</cp:coreProperties>
</file>