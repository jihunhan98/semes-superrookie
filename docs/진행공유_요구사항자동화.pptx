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349240"/>
            <a:ext cx="12191695" cy="54864"/>
          </a:xfrm>
          <a:prstGeom prst="rect">
            <a:avLst/>
          </a:prstGeom>
          <a:solidFill>
            <a:srgbClr val="C67F17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9FB4D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SEMES · SuperRookie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19659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명세서 자동화 시스템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28803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진행 공유 (중간)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22960" y="562356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AEBF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모호성 검출·해결 데모까지 구현 / 테스트 완료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AEBF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일부 이슈(문서보안 docx 등) 공유 및 해결방향 논의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509760" y="59436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7E9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발표자 / 날짜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011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67F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WHY · 배경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04241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필요한가 — 이 프로젝트가 푸는 문제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09960" y="457200"/>
            <a:ext cx="685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C67F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66928" y="137160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sx="100000" sy="100000" kx="0" ky="0" algn="bl" rotWithShape="0" blurRad="76200" dist="25400" dir="5400000">
              <a:srgbClr val="B9C3CE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1755648"/>
            <a:ext cx="640080" cy="640080"/>
          </a:xfrm>
          <a:prstGeom prst="ellipse">
            <a:avLst/>
          </a:prstGeom>
          <a:solidFill>
            <a:srgbClr val="C67F17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75564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783080" y="1517904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7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요구사항의 모호한 표현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783080" y="1975104"/>
            <a:ext cx="699516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C48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명세서에 모호·다의적 표현이 많아, 고객사 ↔ 세메스(우리) 사이에 해석이 갈리고 정의해야 할 항목이 많다. → 재작업·분쟁 소지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9098280" y="1828800"/>
            <a:ext cx="2240280" cy="502920"/>
          </a:xfrm>
          <a:prstGeom prst="roundRect">
            <a:avLst>
              <a:gd name="adj" fmla="val 18182"/>
            </a:avLst>
          </a:prstGeom>
          <a:solidFill>
            <a:srgbClr val="EEF3F8"/>
          </a:solidFill>
          <a:ln w="12700">
            <a:solidFill>
              <a:srgbClr val="C67F1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098280" y="1828800"/>
            <a:ext cx="2240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67F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기능 ① 모호성 해결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2944368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sx="100000" sy="100000" kx="0" ky="0" algn="bl" rotWithShape="0" blurRad="76200" dist="25400" dir="5400000">
              <a:srgbClr val="B9C3CE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68680" y="3328416"/>
            <a:ext cx="640080" cy="640080"/>
          </a:xfrm>
          <a:prstGeom prst="ellipse">
            <a:avLst/>
          </a:prstGeom>
          <a:solidFill>
            <a:srgbClr val="2C7A8C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3328416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783080" y="3090672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7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개발·협업 과정의 문서화가 수작업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783080" y="3547872"/>
            <a:ext cx="699516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C48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요구사항에서 어떤 기능을 개발했고 지금 어떤 상태인지 추적·문서화가 전부 수작업. → 개발을 자동화하고 문서화까지 자동으로 해주는 도구가 필요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9098280" y="3401568"/>
            <a:ext cx="2240280" cy="502920"/>
          </a:xfrm>
          <a:prstGeom prst="roundRect">
            <a:avLst>
              <a:gd name="adj" fmla="val 18182"/>
            </a:avLst>
          </a:prstGeom>
          <a:solidFill>
            <a:srgbClr val="EEF3F8"/>
          </a:solidFill>
          <a:ln w="12700">
            <a:solidFill>
              <a:srgbClr val="2C7A8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98280" y="3401568"/>
            <a:ext cx="2240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7A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기능 ② 기능 도출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4517136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sx="100000" sy="100000" kx="0" ky="0" algn="bl" rotWithShape="0" blurRad="76200" dist="25400" dir="5400000">
              <a:srgbClr val="B9C3CE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68680" y="4901184"/>
            <a:ext cx="640080" cy="640080"/>
          </a:xfrm>
          <a:prstGeom prst="ellipse">
            <a:avLst/>
          </a:prstGeom>
          <a:solidFill>
            <a:srgbClr val="2A8A57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4901184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783080" y="4663440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7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테스트마다 제각각인 DB 스키마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783080" y="5120640"/>
            <a:ext cx="699516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C48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각자 다른 DB를 만들어 테스트해, 배포 시 어떤 스키마·최신본으로 가져갈지 불명확하고 누락도 잦다. → 최신 스키마를 간편히 보고 동기화할 수단이 필요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9098280" y="4974336"/>
            <a:ext cx="2240280" cy="502920"/>
          </a:xfrm>
          <a:prstGeom prst="roundRect">
            <a:avLst>
              <a:gd name="adj" fmla="val 18182"/>
            </a:avLst>
          </a:prstGeom>
          <a:solidFill>
            <a:srgbClr val="EEF3F8"/>
          </a:solidFill>
          <a:ln w="12700">
            <a:solidFill>
              <a:srgbClr val="2A8A5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098280" y="4974336"/>
            <a:ext cx="2240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8A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기능 ③ DB 변경관리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011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67F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04241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만드나 — 핵심 기능 3가지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09960" y="457200"/>
            <a:ext cx="685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C67F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66928" y="12344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3707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앞의 세 가지 문제를 아래 3개 핵심 기능으로 자동화한다.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1965960"/>
            <a:ext cx="3520440" cy="352044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sx="100000" sy="100000" kx="0" ky="0" algn="bl" rotWithShape="0" blurRad="76200" dist="25400" dir="5400000">
              <a:srgbClr val="B9C3CE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86968" y="2286000"/>
            <a:ext cx="640080" cy="640080"/>
          </a:xfrm>
          <a:prstGeom prst="ellipse">
            <a:avLst/>
          </a:prstGeom>
          <a:solidFill>
            <a:srgbClr val="C67F17"/>
          </a:solidFill>
          <a:ln/>
        </p:spPr>
      </p:sp>
      <p:sp>
        <p:nvSpPr>
          <p:cNvPr id="8" name="Text 6"/>
          <p:cNvSpPr/>
          <p:nvPr/>
        </p:nvSpPr>
        <p:spPr>
          <a:xfrm>
            <a:off x="886968" y="22860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664208" y="233172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7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모호성 해결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886968" y="3246120"/>
            <a:ext cx="29260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3C48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docx 명세서에서 모호한 조항을 유형별로 검출하고, 합의를 거쳐 해석을 확정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4334256" y="1965960"/>
            <a:ext cx="3520440" cy="352044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sx="100000" sy="100000" kx="0" ky="0" algn="bl" rotWithShape="0" blurRad="76200" dist="25400" dir="5400000">
              <a:srgbClr val="B9C3CE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54296" y="2286000"/>
            <a:ext cx="640080" cy="640080"/>
          </a:xfrm>
          <a:prstGeom prst="ellipse">
            <a:avLst/>
          </a:prstGeom>
          <a:solidFill>
            <a:srgbClr val="2C7A8C"/>
          </a:solidFill>
          <a:ln/>
        </p:spPr>
      </p:sp>
      <p:sp>
        <p:nvSpPr>
          <p:cNvPr id="13" name="Text 11"/>
          <p:cNvSpPr/>
          <p:nvPr/>
        </p:nvSpPr>
        <p:spPr>
          <a:xfrm>
            <a:off x="4654296" y="22860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431536" y="233172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7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 요구사항 도출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654296" y="3246120"/>
            <a:ext cx="29260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3C48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확정된 요구사항을 개발 단위 '기능'으로 분해 → UI·APP 기능명세로 파생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8101584" y="1965960"/>
            <a:ext cx="3520440" cy="352044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sx="100000" sy="100000" kx="0" ky="0" algn="bl" rotWithShape="0" blurRad="76200" dist="25400" dir="5400000">
              <a:srgbClr val="B9C3CE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421624" y="2286000"/>
            <a:ext cx="640080" cy="640080"/>
          </a:xfrm>
          <a:prstGeom prst="ellipse">
            <a:avLst/>
          </a:prstGeom>
          <a:solidFill>
            <a:srgbClr val="2A8A57"/>
          </a:solidFill>
          <a:ln/>
        </p:spPr>
      </p:sp>
      <p:sp>
        <p:nvSpPr>
          <p:cNvPr id="18" name="Text 16"/>
          <p:cNvSpPr/>
          <p:nvPr/>
        </p:nvSpPr>
        <p:spPr>
          <a:xfrm>
            <a:off x="8421624" y="22860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98864" y="233172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7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DB 변경 관리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8421624" y="3246120"/>
            <a:ext cx="29260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3C48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스키마 변경을 감지·알림하고, 클릭으로 개인 스키마에 동기화(pull)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566928" y="58064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C7A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공유: ① 모호성 해결은 구현·테스트 완료, ②·③은 설계 단계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011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67F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04241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아키텍처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09960" y="457200"/>
            <a:ext cx="685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C67F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900" dirty="0"/>
          </a:p>
        </p:txBody>
      </p:sp>
      <p:pic>
        <p:nvPicPr>
          <p:cNvPr id="5" name="Image 0" descr="/home/user/semes-superrookie/docs/img/design-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884426"/>
            <a:ext cx="11292840" cy="327202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893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3707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구성요소는 사내 폐쇄망 안에서 동작 · AI 추론 상세는 다음 장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011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67F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04241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추론 — 2가지 (비교)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09960" y="457200"/>
            <a:ext cx="685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C67F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66928" y="1371600"/>
            <a:ext cx="5440680" cy="269748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sx="100000" sy="100000" kx="0" ky="0" algn="bl" rotWithShape="0" blurRad="76200" dist="25400" dir="5400000">
              <a:srgbClr val="B9C3CE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572768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67F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Qwen3-8B  (주력)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68680" y="2103120"/>
            <a:ext cx="48463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7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오픈소스 LLM, Ollama로 로컬 서빙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7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워크스테이션 GPU(P4000 8GB)에서 구동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7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다운받아 바로 사용 · 반출 없음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199632" y="1371600"/>
            <a:ext cx="5440680" cy="2697480"/>
          </a:xfrm>
          <a:prstGeom prst="roundRect">
            <a:avLst>
              <a:gd name="adj" fmla="val 2712"/>
            </a:avLst>
          </a:prstGeom>
          <a:solidFill>
            <a:srgbClr val="FDF7EE"/>
          </a:solidFill>
          <a:ln w="12700">
            <a:solidFill>
              <a:srgbClr val="DCE3EB"/>
            </a:solidFill>
            <a:prstDash val="solid"/>
          </a:ln>
          <a:effectLst>
            <a:outerShdw sx="100000" sy="100000" kx="0" ky="0" algn="bl" rotWithShape="0" blurRad="76200" dist="25400" dir="5400000">
              <a:srgbClr val="B9C3CE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46520" y="1572768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7A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사내 playground  (비교용)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92240" y="2103120"/>
            <a:ext cx="48463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7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AI를 API로 호출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7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서비스라 반출 문제 없음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7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Qwen3-8B와 정확도·속도 비교 목적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66928" y="4251960"/>
            <a:ext cx="74066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sx="100000" sy="100000" kx="0" ky="0" algn="bl" rotWithShape="0" blurRad="76200" dist="25400" dir="5400000">
              <a:srgbClr val="B9C3CE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22960" y="43891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439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방법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68680" y="4800600"/>
            <a:ext cx="68580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7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학습(파인튜닝) 없이 프롬프트 기반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7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프롬프트에 도메인 용어집(AMR·LOAD·UNLOAD 등) + '이렇게 쓰라' 재작성 예시 반영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138160" y="4251960"/>
            <a:ext cx="3493008" cy="1965960"/>
          </a:xfrm>
          <a:prstGeom prst="roundRect">
            <a:avLst>
              <a:gd name="adj" fmla="val 3721"/>
            </a:avLst>
          </a:prstGeom>
          <a:solidFill>
            <a:srgbClr val="1B2A4A"/>
          </a:solidFill>
          <a:ln w="12700">
            <a:solidFill>
              <a:srgbClr val="DCE3EB"/>
            </a:solidFill>
            <a:prstDash val="solid"/>
          </a:ln>
          <a:effectLst>
            <a:outerShdw sx="100000" sy="100000" kx="0" ky="0" algn="bl" rotWithShape="0" blurRad="76200" dist="25400" dir="5400000">
              <a:srgbClr val="B9C3CE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138160" y="4434840"/>
            <a:ext cx="34930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추론 시간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138160" y="4754880"/>
            <a:ext cx="349300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2~3초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8138160" y="5623560"/>
            <a:ext cx="34930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EBF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기능(조항) 1건당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011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67F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핵심기능 ① · 프로세스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04241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모호성 해결 — docx 업로드부터 해결까지 (하나의 프로세스)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09960" y="457200"/>
            <a:ext cx="685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C67F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1900" dirty="0"/>
          </a:p>
        </p:txBody>
      </p:sp>
      <p:pic>
        <p:nvPicPr>
          <p:cNvPr id="5" name="Image 0" descr="/home/user/semes-superrookie/docs/img/design-fig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93597" y="1280160"/>
            <a:ext cx="9420045" cy="4160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436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439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docx 업로드·파싱  →  ② 조항별 모호성 검출(유형·근거·재작성 예시)  →  ③ 해결(해석 입력)/넘어가기  →  ④ 해결 전·후 비교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011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67F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핵심기능 ① · 구현/테스트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04241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실제로 이렇게 구현·테스트했다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09960" y="457200"/>
            <a:ext cx="685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C67F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1900" dirty="0"/>
          </a:p>
        </p:txBody>
      </p:sp>
      <p:pic>
        <p:nvPicPr>
          <p:cNvPr id="5" name="Image 0" descr="/home/user/semes-superrookie/docs/img/demo-ambiguity-rea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43769" y="1280160"/>
            <a:ext cx="4040541" cy="5074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1508760"/>
            <a:ext cx="62179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C67F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docx 업로드 → 문단·표 파싱 (같은 프로세스의 앞단)</a:t>
            </a:r>
            <a:endParaRPr lang="en-US" sz="150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F27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조항별로 모호 유형·근거·재작성 예시 표시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C67F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해결하기(해석 입력) / 넘어가기 선택</a:t>
            </a:r>
            <a:endParaRPr lang="en-US" sz="150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F27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확정 시 '해결 전 / 후' 비교로 전환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C48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React + FastAPI + 로컬 LLM으로 실제 동작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66928" y="4892040"/>
            <a:ext cx="2651760" cy="475488"/>
          </a:xfrm>
          <a:prstGeom prst="roundRect">
            <a:avLst>
              <a:gd name="adj" fmla="val 19231"/>
            </a:avLst>
          </a:prstGeom>
          <a:solidFill>
            <a:srgbClr val="DDF0E4"/>
          </a:solidFill>
          <a:ln w="12700">
            <a:solidFill>
              <a:srgbClr val="2A8A5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66928" y="4892040"/>
            <a:ext cx="2651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A8A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✔  테스트 완료</a:t>
            </a:r>
            <a:endParaRPr lang="en-US" sz="1400" dirty="0"/>
          </a:p>
        </p:txBody>
      </p:sp>
      <p:pic>
        <p:nvPicPr>
          <p:cNvPr id="9" name="Image 1" descr="/home/user/semes-superrookie/docs/img/demo-docx-uploa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440680"/>
            <a:ext cx="1005840" cy="100584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737360" y="571500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3707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docx 업로드·파싱 화면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011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67F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핵심기능 ② · 설계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04241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 요구사항 도출 — 하나의 기능 → UI·APP 명세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09960" y="457200"/>
            <a:ext cx="685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C67F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1900" dirty="0"/>
          </a:p>
        </p:txBody>
      </p:sp>
      <p:pic>
        <p:nvPicPr>
          <p:cNvPr id="5" name="Image 0" descr="/home/user/semes-superrookie/docs/img/design-fig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4481" y="1234440"/>
            <a:ext cx="10078278" cy="35661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502920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7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확정 요구사항 → 개발 단위 '기능(FEAT)'으로 분해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7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AI가 UI / APP(backend) 구분 → 하나의 기능에서 여러 UI·APP 기능명세 파생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C48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APP은 8개 모듈별로 관리(NATS 메시지), 상세에서 통신방식·subject·입출력 편집 가능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011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67F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핵심기능 ③ · 설계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04241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DB 변경 관리 — 최종 → 개인 스키마 동기화(pull)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09960" y="457200"/>
            <a:ext cx="685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C67F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66928" y="1234440"/>
            <a:ext cx="1106424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F27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스키마(개발·테스트) vs 최종 스키마(고객 배포 기준) — 모두 최종에 맞춰야 함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7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최종이 바뀌면 변경점 감지·알림 → 클릭 한 번으로 내 스키마에 pull (git 모델)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C48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추가(컬럼·행)는 즉시 안전 적용 / 삭제·타입변경은 확인 후 적용 (데이터 손실 방지)</a:t>
            </a:r>
            <a:endParaRPr lang="en-US" sz="1500" dirty="0"/>
          </a:p>
        </p:txBody>
      </p:sp>
      <p:pic>
        <p:nvPicPr>
          <p:cNvPr id="6" name="Image 0" descr="/home/user/semes-superrookie/docs/img/design-fig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899381"/>
            <a:ext cx="10927080" cy="320807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011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67F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FRONTEND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04241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프론트엔드 — React 선택 이유 &amp; 이슈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09960" y="457200"/>
            <a:ext cx="685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C67F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5486400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sx="100000" sy="100000" kx="0" ky="0" algn="bl" rotWithShape="0" blurRad="76200" dist="25400" dir="5400000">
              <a:srgbClr val="B9C3CE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6459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C7A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장점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68680" y="2194560"/>
            <a:ext cx="49377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7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컴포넌트 기반 → 화면 재사용·유지보수 쉬움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7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상태관리로 검출·해결 상태 즉시 반영 (인터랙티브)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7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표준·생태계 넓음, 설계서 기술스택과 일치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309360" y="1463040"/>
            <a:ext cx="5330952" cy="4114800"/>
          </a:xfrm>
          <a:prstGeom prst="roundRect">
            <a:avLst>
              <a:gd name="adj" fmla="val 1778"/>
            </a:avLst>
          </a:prstGeom>
          <a:solidFill>
            <a:srgbClr val="FDF4E7"/>
          </a:solidFill>
          <a:ln w="12700">
            <a:solidFill>
              <a:srgbClr val="DCE3EB"/>
            </a:solidFill>
            <a:prstDash val="solid"/>
          </a:ln>
          <a:effectLst>
            <a:outerShdw sx="100000" sy="100000" kx="0" ky="0" algn="bl" rotWithShape="0" blurRad="76200" dist="25400" dir="5400000">
              <a:srgbClr val="B9C3CE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83680" y="164592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67F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이슈 (고민)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583680" y="2194560"/>
            <a:ext cx="475488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F27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빌드에 필요한 npm install이 사내 프록시 인증서로 막힘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3707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 UNABLE_TO_VERIFY_LEAF_SIGNATURE )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F27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보안이라 함부로 설정 변경도 어려움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A8A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임시 대응: 미리 빌드한 결과물(dist)만 넣어 실행 → npm 없이 구동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011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67F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ISSUE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04241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발견된 이슈 &amp; 해결 방향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09960" y="457200"/>
            <a:ext cx="685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C67F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11064240" cy="1828800"/>
          </a:xfrm>
          <a:prstGeom prst="roundRect">
            <a:avLst>
              <a:gd name="adj" fmla="val 4000"/>
            </a:avLst>
          </a:prstGeom>
          <a:solidFill>
            <a:srgbClr val="FBEDEC"/>
          </a:solidFill>
          <a:ln w="12700">
            <a:solidFill>
              <a:srgbClr val="DCE3EB"/>
            </a:solidFill>
            <a:prstDash val="solid"/>
          </a:ln>
          <a:effectLst>
            <a:outerShdw sx="100000" sy="100000" kx="0" ky="0" algn="bl" rotWithShape="0" blurRad="76200" dist="25400" dir="5400000">
              <a:srgbClr val="B9C3CE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6002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5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  실제 명세서 docx 파싱 실패  —  "file is not a zip file"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68680" y="210312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5A3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 추정: 문서보안(DRM)·암호 또는 한글(hwp)·구버전(.doc) → raw 파일이 zip 아님 (Word에선 열려도)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A8A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해결방향: 실제 파일 시그니처 확인 중 / 보안 해제 사본 테스트 / hwp면 hwp 파싱 지원 검토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3429000"/>
            <a:ext cx="544068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sx="100000" sy="100000" kx="0" ky="0" algn="bl" rotWithShape="0" blurRad="76200" dist="25400" dir="5400000">
              <a:srgbClr val="B9C3CE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22960" y="36118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67F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모호성 과검출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68680" y="4114800"/>
            <a:ext cx="48463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7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사소한 표현까지 잡는 경향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7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도메인 지식·기준 프롬프트 정교화로 완화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199632" y="3429000"/>
            <a:ext cx="544068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sx="100000" sy="100000" kx="0" ky="0" algn="bl" rotWithShape="0" blurRad="76200" dist="25400" dir="5400000">
              <a:srgbClr val="B9C3CE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46520" y="36118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9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단계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492240" y="4114800"/>
            <a:ext cx="48463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7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docx(→hwp) 입력 문제 해결 우선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7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 도출·DB 동기화·백엔드 확장 구현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246120"/>
            <a:ext cx="12191695" cy="45720"/>
          </a:xfrm>
          <a:prstGeom prst="rect">
            <a:avLst/>
          </a:prstGeom>
          <a:solidFill>
            <a:srgbClr val="C67F17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9FB4D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1828800"/>
            <a:ext cx="10515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모호성 검출·해결 데모까지 구현 완료,</a:t>
            </a:r>
            <a:endParaRPr lang="en-US" sz="2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docx 문서보안 이슈만 풀면 실제 명세서 투입 가능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22960" y="3657600"/>
            <a:ext cx="105156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구현·테스트: 모호성 해결 웹 데모 (docx 업로드 → 검출 → 해결)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설계: 기능 도출(UI·APP 명세), DB 스키마 동기화(pull)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이슈: 실제 docx(DRM/hwp) 파싱 — 해결 방향 논의 필요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67F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감사합니다 · Q&amp;A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2026-07-27T00:28:48Z</dcterms:created>
  <dcterms:modified xsi:type="dcterms:W3CDTF">2026-07-27T00:28:48Z</dcterms:modified>
</cp:coreProperties>
</file>