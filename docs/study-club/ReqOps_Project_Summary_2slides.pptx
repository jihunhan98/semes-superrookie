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93e72eb94e4dd9" /><Relationship Type="http://schemas.openxmlformats.org/officeDocument/2006/relationships/extended-properties" Target="/docProps/app.xml" Id="R995e405bb91d4991" /><Relationship Type="http://schemas.openxmlformats.org/officeDocument/2006/relationships/officeDocument" Target="/ppt/presentation.xml" Id="R77a70398369647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da88e875424b12"/>
  </p:sldMasterIdLst>
  <p:notesMasterIdLst>
    <p:notesMasterId xmlns:r="http://schemas.openxmlformats.org/officeDocument/2006/relationships" r:id="R8eb5420d859344bf"/>
  </p:notesMasterIdLst>
  <p:sldIdLst>
    <p:sldId xmlns:r="http://schemas.openxmlformats.org/officeDocument/2006/relationships" id="256" r:id="R7138f176e80d40f6"/>
    <p:sldId xmlns:r="http://schemas.openxmlformats.org/officeDocument/2006/relationships" id="257" r:id="R7b70ee83d78240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5b15852aaf444e" /><Relationship Type="http://schemas.openxmlformats.org/officeDocument/2006/relationships/slideMaster" Target="/ppt/slideMasters/slideMaster1.xml" Id="R26da88e875424b12" /><Relationship Type="http://schemas.openxmlformats.org/officeDocument/2006/relationships/notesMaster" Target="/ppt/notesMasters/notesMaster1.xml" Id="R8eb5420d859344bf" /><Relationship Type="http://schemas.openxmlformats.org/officeDocument/2006/relationships/presProps" Target="/ppt/presProps.xml" Id="R25a14d460ef848e2" /><Relationship Type="http://schemas.openxmlformats.org/officeDocument/2006/relationships/tableStyles" Target="/ppt/tableStyles.xml" Id="R81d26fbe9a7a49c2" /><Relationship Type="http://schemas.openxmlformats.org/officeDocument/2006/relationships/slide" Target="/ppt/slides/slide1.xml" Id="R7138f176e80d40f6" /><Relationship Type="http://schemas.openxmlformats.org/officeDocument/2006/relationships/slide" Target="/ppt/slides/slide2.xml" Id="R7b70ee83d78240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0731d7ba0b47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dadd58228843bd" /><Relationship Type="http://schemas.openxmlformats.org/officeDocument/2006/relationships/notesMaster" Target="/ppt/notesMasters/notesMaster1.xml" Id="R29195347cfe942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7ccfb70c9140e8" /><Relationship Type="http://schemas.openxmlformats.org/officeDocument/2006/relationships/notesMaster" Target="/ppt/notesMasters/notesMaster1.xml" Id="R5a96bb2d848343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프로젝트는 장비를 직접 제어하는 VCS가 아니라 고객 요구사항을 검토하고 산출물을 만드는 ReqOps Agent입니다. VCS·AMR 요구사항을 적용 예제로 사용합니다. 문서 작업 부담 감소는 개발 목적이며 실측 성과 수치는 제시하지 않았습니다.</a:t>
            </a:r>
          </a:p>
          <a:p xmlns:a="http://schemas.openxmlformats.org/drawingml/2006/main">
            <a:r>
              <a:t>근거: https://github.com/jihunhan98/semes-superrookie/blob/df1cc48ee07a70cd7d4d47c7399048779f7b88e7/README.md</a:t>
            </a:r>
          </a:p>
          <a:p xmlns:a="http://schemas.openxmlformats.org/drawingml/2006/main">
            <a:r>
              <a:t>https://github.com/jihunhan98/semes-superrookie/blob/df1cc48ee07a70cd7d4d47c7399048779f7b88e7/docs/requirement-review-implementation.md</a:t>
            </a:r>
          </a:p>
          <a:p xmlns:a="http://schemas.openxmlformats.org/drawingml/2006/main">
            <a:r>
              <a:t>https://github.com/jihunhan98/semes-superrookie/blob/df1cc48ee07a70cd7d4d47c7399048779f7b88e7/PROJECT.md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등록, 본문 검토와 확정, 이슈와 산출물 도출, 산출물 검토와 전체 확정의 네 단계로 진행합니다. 사용자는 AI 제안을 반영하거나 직접 수정한 문장을 버튼으로 반영하며 원문을 유지할 수도 있습니다. 산출물은 SWVOC, 기능 요구사항, 비기능 요구사항, Detail Design의 네 종류입니다. AI가 생성한 상세설계는 요구사항 기반 초안이며 기존 장비 소스코드 분석 결과라고 설명하지 않습니다.</a:t>
            </a:r>
          </a:p>
          <a:p xmlns:a="http://schemas.openxmlformats.org/drawingml/2006/main">
            <a:r>
              <a:t>근거: https://github.com/jihunhan98/semes-superrookie/blob/df1cc48ee07a70cd7d4d47c7399048779f7b88e7/README.md</a:t>
            </a:r>
          </a:p>
          <a:p xmlns:a="http://schemas.openxmlformats.org/drawingml/2006/main">
            <a:r>
              <a:t>https://github.com/jihunhan98/semes-superrookie/blob/df1cc48ee07a70cd7d4d47c7399048779f7b88e7/frontend/package.json</a:t>
            </a:r>
          </a:p>
          <a:p xmlns:a="http://schemas.openxmlformats.org/drawingml/2006/main">
            <a:r>
              <a:t>https://github.com/jihunhan98/semes-superrookie/blob/df1cc48ee07a70cd7d4d47c7399048779f7b88e7/backend/pom.xml</a:t>
            </a:r>
          </a:p>
          <a:p xmlns:a="http://schemas.openxmlformats.org/drawingml/2006/main">
            <a:r>
              <a:t>https://github.com/jihunhan98/semes-superrookie/blob/df1cc48ee07a70cd7d4d47c7399048779f7b88e7/backend/src/main/java/com/semes/reqops/domain/artifact/entity/ArtifactType.java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6e3b522d3140c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8ce05341fe4fd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01c4e99fb1458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61726bc1b647b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e711c0340042f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fb549ec68f43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CFE405-D20D-48A9-97EB-1826124814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3F59726-F31A-4507-B1E8-4991C80DE3F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C251555-181B-4368-BC1E-3D7D776F8D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84C0DC-6977-4FF9-82F8-236839DECE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414FBCD-96C6-4949-BF96-633A75CF95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59AA69A-D703-4E6B-B8DF-37AFA9DC3F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FFA405A-7483-4BD4-AEA1-28F4EDD90A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6814BC0-5AF5-4008-93A9-A3A3E7AB3EE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D48F2D-E81E-434F-A91D-AA7108BDD2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049110-94A4-4967-925F-B2F5347306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45d93bb79243b1" /><Relationship Type="http://schemas.openxmlformats.org/officeDocument/2006/relationships/slideLayout" Target="/ppt/slideLayouts/slideLayout1.xml" Id="R0ad81f0a85f54fb5" /><Relationship Type="http://schemas.openxmlformats.org/officeDocument/2006/relationships/slideLayout" Target="/ppt/slideLayouts/slideLayout2.xml" Id="Rb92681334c1f47d8" /><Relationship Type="http://schemas.openxmlformats.org/officeDocument/2006/relationships/slideLayout" Target="/ppt/slideLayouts/slideLayout3.xml" Id="R599e548ca70a4c6f" /><Relationship Type="http://schemas.openxmlformats.org/officeDocument/2006/relationships/slideLayout" Target="/ppt/slideLayouts/slideLayout4.xml" Id="Rd213d9c04ef64979" /><Relationship Type="http://schemas.openxmlformats.org/officeDocument/2006/relationships/slideLayout" Target="/ppt/slideLayouts/slideLayout5.xml" Id="R892fa74c5e294a7c" /><Relationship Type="http://schemas.openxmlformats.org/officeDocument/2006/relationships/slideLayout" Target="/ppt/slideLayouts/slideLayout6.xml" Id="Rd3e6dfb7b7d54b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d81f0a85f54fb5"/>
    <p:sldLayoutId xmlns:r="http://schemas.openxmlformats.org/officeDocument/2006/relationships" id="2147483650" r:id="Rb92681334c1f47d8"/>
    <p:sldLayoutId xmlns:r="http://schemas.openxmlformats.org/officeDocument/2006/relationships" id="2147483651" r:id="R599e548ca70a4c6f"/>
    <p:sldLayoutId xmlns:r="http://schemas.openxmlformats.org/officeDocument/2006/relationships" id="2147483652" r:id="Rd213d9c04ef64979"/>
    <p:sldLayoutId xmlns:r="http://schemas.openxmlformats.org/officeDocument/2006/relationships" id="2147483653" r:id="R892fa74c5e294a7c"/>
    <p:sldLayoutId xmlns:r="http://schemas.openxmlformats.org/officeDocument/2006/relationships" id="2147483654" r:id="Rd3e6dfb7b7d54b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d39e7c5c064b6c" /><Relationship Type="http://schemas.openxmlformats.org/officeDocument/2006/relationships/notesSlide" Target="/ppt/notesSlides/notesSlide1.xml" Id="Rfcb9a74eee744f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efad1e6cb844cd" /><Relationship Type="http://schemas.openxmlformats.org/officeDocument/2006/relationships/notesSlide" Target="/ppt/notesSlides/notesSlide2.xml" Id="Rb48a9cc9bc2c4c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project-name">
            <a:extLst xmlns:a="http://schemas.openxmlformats.org/drawingml/2006/main">
              <a:ext uri="{FF2B5EF4-FFF2-40B4-BE49-F238E27FC236}">
                <a16:creationId xmlns:a16="http://schemas.microsoft.com/office/drawing/2014/main" id="{1326B2FB-ED25-436A-89D1-33262B0D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rPr>
              <a:t>ReqOps Agent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473333A-9206-4C46-9475-6833D27D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191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8A99AA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575" b="1">
                <a:solidFill>
                  <a:srgbClr val="8A99AA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575" b="1">
                <a:solidFill>
                  <a:srgbClr val="8A99AA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575" b="1">
                <a:solidFill>
                  <a:srgbClr val="8A99AA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575" b="1">
                <a:solidFill>
                  <a:srgbClr val="8A99AA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575" b="1">
                <a:solidFill>
                  <a:srgbClr val="8A99AA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575" b="1">
                <a:solidFill>
                  <a:srgbClr val="8A99AA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575" b="1">
                <a:solidFill>
                  <a:srgbClr val="8A99AA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575" b="1">
                <a:solidFill>
                  <a:srgbClr val="8A99AA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575" b="1">
                <a:solidFill>
                  <a:srgbClr val="8A99AA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575" b="1">
                <a:solidFill>
                  <a:srgbClr val="8A99A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8A99AA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45AD25-73C8-4605-92D2-4EEF9072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35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35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35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35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35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35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35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35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35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35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rPr>
              <a:t>AI 기반 요구사항 검토·산출물 자동화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DB0F26EC-A51B-48FE-8D70-252E1824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87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87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87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87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87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87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87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87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87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87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rPr>
              <a:t>고객 요구사항을 검토하고 개발 이슈와 설계 문서로 정리하는 웹 도구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F00D28F-791F-4B82-9AC8-7F0C0DB1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8A99AA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 b="0">
                <a:solidFill>
                  <a:srgbClr val="8A99AA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 b="0">
                <a:solidFill>
                  <a:srgbClr val="8A99AA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 b="0">
                <a:solidFill>
                  <a:srgbClr val="8A99AA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 b="0">
                <a:solidFill>
                  <a:srgbClr val="8A99AA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 b="0">
                <a:solidFill>
                  <a:srgbClr val="8A99AA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 b="0">
                <a:solidFill>
                  <a:srgbClr val="8A99AA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 b="0">
                <a:solidFill>
                  <a:srgbClr val="8A99AA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 b="0">
                <a:solidFill>
                  <a:srgbClr val="8A99AA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 b="0">
                <a:solidFill>
                  <a:srgbClr val="8A99AA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350" b="0">
                <a:solidFill>
                  <a:srgbClr val="8A99A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8A99AA"/>
                </a:solidFill>
                <a:latin typeface="Noto Sans KR"/>
                <a:ea typeface="Noto Sans KR"/>
                <a:cs typeface="Noto Sans KR"/>
              </a:rPr>
              <a:t>학습동아리 프로젝트 요약</a:t>
            </a:r>
          </a:p>
        </p:txBody>
      </p:sp>
      <p:sp>
        <p:nvSpPr>
          <p:cNvPr id="6" name="purpose-title">
            <a:extLst xmlns:a="http://schemas.openxmlformats.org/drawingml/2006/main">
              <a:ext uri="{FF2B5EF4-FFF2-40B4-BE49-F238E27FC236}">
                <a16:creationId xmlns:a16="http://schemas.microsoft.com/office/drawing/2014/main" id="{FD8B2A1B-D524-4B1D-B671-2192DB9B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447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rPr>
              <a:t>개발 목적</a:t>
            </a:r>
          </a:p>
        </p:txBody>
      </p:sp>
      <p:sp>
        <p:nvSpPr>
          <p:cNvPr id="7" name="purpose-body">
            <a:extLst xmlns:a="http://schemas.openxmlformats.org/drawingml/2006/main">
              <a:ext uri="{FF2B5EF4-FFF2-40B4-BE49-F238E27FC236}">
                <a16:creationId xmlns:a16="http://schemas.microsoft.com/office/drawing/2014/main" id="{5A7CD513-5B23-4AA5-8471-3C5ECC04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5143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9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9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9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9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9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9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9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9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9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9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rPr>
              <a:t>모호한 요구사항을 개발 전에 확인하고,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9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rPr>
              <a:t>문서 작성과 검토의 반복 작업을 줄인다.</a:t>
            </a:r>
          </a:p>
        </p:txBody>
      </p:sp>
      <p:sp>
        <p:nvSpPr>
          <p:cNvPr id="8" name="scope-title">
            <a:extLst xmlns:a="http://schemas.openxmlformats.org/drawingml/2006/main">
              <a:ext uri="{FF2B5EF4-FFF2-40B4-BE49-F238E27FC236}">
                <a16:creationId xmlns:a16="http://schemas.microsoft.com/office/drawing/2014/main" id="{E8329558-E73B-40CB-9EE7-EA5F7231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rPr>
              <a:t>적용 대상</a:t>
            </a:r>
          </a:p>
        </p:txBody>
      </p:sp>
      <p:sp>
        <p:nvSpPr>
          <p:cNvPr id="9" name="scope-body">
            <a:extLst xmlns:a="http://schemas.openxmlformats.org/drawingml/2006/main">
              <a:ext uri="{FF2B5EF4-FFF2-40B4-BE49-F238E27FC236}">
                <a16:creationId xmlns:a16="http://schemas.microsoft.com/office/drawing/2014/main" id="{5F180C2B-13CF-41CF-AACC-A3FABAB4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5143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87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87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87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87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87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87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87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87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87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87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rPr>
              <a:t>장비 SW 요구사항 관리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87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rPr>
              <a:t>VCS·AMR 요구사항을 예제로 검증</a:t>
            </a:r>
          </a:p>
        </p:txBody>
      </p:sp>
      <p:sp>
        <p:nvSpPr>
          <p:cNvPr id="10" name="features-title">
            <a:extLst xmlns:a="http://schemas.openxmlformats.org/drawingml/2006/main">
              <a:ext uri="{FF2B5EF4-FFF2-40B4-BE49-F238E27FC236}">
                <a16:creationId xmlns:a16="http://schemas.microsoft.com/office/drawing/2014/main" id="{4868BD7E-D495-4C51-B5A8-A78CF6EF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771775"/>
            <a:ext cx="4943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rPr>
              <a:t>핵심 기능</a:t>
            </a:r>
          </a:p>
        </p:txBody>
      </p:sp>
      <p:sp>
        <p:nvSpPr>
          <p:cNvPr id="11" name="f0-n">
            <a:extLst xmlns:a="http://schemas.openxmlformats.org/drawingml/2006/main">
              <a:ext uri="{FF2B5EF4-FFF2-40B4-BE49-F238E27FC236}">
                <a16:creationId xmlns:a16="http://schemas.microsoft.com/office/drawing/2014/main" id="{B5E4B95B-C822-4872-9A30-71B70160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32422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2" name="f0-title">
            <a:extLst xmlns:a="http://schemas.openxmlformats.org/drawingml/2006/main">
              <a:ext uri="{FF2B5EF4-FFF2-40B4-BE49-F238E27FC236}">
                <a16:creationId xmlns:a16="http://schemas.microsoft.com/office/drawing/2014/main" id="{456441D2-3930-46DC-9E0A-1A3E7094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305175"/>
            <a:ext cx="4391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9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9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9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9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9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9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9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9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9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9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rPr>
              <a:t>AI 요구사항 검토</a:t>
            </a:r>
          </a:p>
        </p:txBody>
      </p:sp>
      <p:sp>
        <p:nvSpPr>
          <p:cNvPr id="13" name="f0-body">
            <a:extLst xmlns:a="http://schemas.openxmlformats.org/drawingml/2006/main">
              <a:ext uri="{FF2B5EF4-FFF2-40B4-BE49-F238E27FC236}">
                <a16:creationId xmlns:a16="http://schemas.microsoft.com/office/drawing/2014/main" id="{C0D52275-BDCA-441F-881D-3F2B5A38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676650"/>
            <a:ext cx="43910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rPr>
              <a:t>불명확한 조건·수치, 예외 누락과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rPr>
              <a:t>기존 요구사항의 상충을 확인</a:t>
            </a:r>
          </a:p>
        </p:txBody>
      </p:sp>
      <p:sp>
        <p:nvSpPr>
          <p:cNvPr id="14" name="f1-n">
            <a:extLst xmlns:a="http://schemas.openxmlformats.org/drawingml/2006/main">
              <a:ext uri="{FF2B5EF4-FFF2-40B4-BE49-F238E27FC236}">
                <a16:creationId xmlns:a16="http://schemas.microsoft.com/office/drawing/2014/main" id="{455C317C-7D49-48B0-8CB1-A51678B1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2862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5" name="f1-title">
            <a:extLst xmlns:a="http://schemas.openxmlformats.org/drawingml/2006/main">
              <a:ext uri="{FF2B5EF4-FFF2-40B4-BE49-F238E27FC236}">
                <a16:creationId xmlns:a16="http://schemas.microsoft.com/office/drawing/2014/main" id="{79623DF1-9DF7-4F4F-B226-E75789CF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267200"/>
            <a:ext cx="4391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9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9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9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9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9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9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9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9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9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9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rPr>
              <a:t>변경 이유와 수정안 제시</a:t>
            </a:r>
          </a:p>
        </p:txBody>
      </p:sp>
      <p:sp>
        <p:nvSpPr>
          <p:cNvPr id="16" name="f1-body">
            <a:extLst xmlns:a="http://schemas.openxmlformats.org/drawingml/2006/main">
              <a:ext uri="{FF2B5EF4-FFF2-40B4-BE49-F238E27FC236}">
                <a16:creationId xmlns:a16="http://schemas.microsoft.com/office/drawing/2014/main" id="{B18D7DA8-8897-455A-9C85-D10011DD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638675"/>
            <a:ext cx="43910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rPr>
              <a:t>원문과 수정 결과를 비교하고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rPr>
              <a:t>제안 반영·직접 수정·원문 유지를 선택</a:t>
            </a:r>
          </a:p>
        </p:txBody>
      </p:sp>
      <p:sp>
        <p:nvSpPr>
          <p:cNvPr id="17" name="f2-n">
            <a:extLst xmlns:a="http://schemas.openxmlformats.org/drawingml/2006/main">
              <a:ext uri="{FF2B5EF4-FFF2-40B4-BE49-F238E27FC236}">
                <a16:creationId xmlns:a16="http://schemas.microsoft.com/office/drawing/2014/main" id="{E105165E-CF21-43ED-A417-FC3A856D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2482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8" name="f2-title">
            <a:extLst xmlns:a="http://schemas.openxmlformats.org/drawingml/2006/main">
              <a:ext uri="{FF2B5EF4-FFF2-40B4-BE49-F238E27FC236}">
                <a16:creationId xmlns:a16="http://schemas.microsoft.com/office/drawing/2014/main" id="{DC20DD02-3F2F-4A0A-B0FE-C8910D03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229225"/>
            <a:ext cx="4391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9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9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9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9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9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9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9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9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9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9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rPr>
              <a:t>개발 이슈·문서 생성</a:t>
            </a:r>
          </a:p>
        </p:txBody>
      </p:sp>
      <p:sp>
        <p:nvSpPr>
          <p:cNvPr id="19" name="f2-body">
            <a:extLst xmlns:a="http://schemas.openxmlformats.org/drawingml/2006/main">
              <a:ext uri="{FF2B5EF4-FFF2-40B4-BE49-F238E27FC236}">
                <a16:creationId xmlns:a16="http://schemas.microsoft.com/office/drawing/2014/main" id="{1ED00B3C-F0B6-4876-B244-E2C2FFBB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600700"/>
            <a:ext cx="43910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rPr>
              <a:t>이슈별 산출물 4종 초안 생성과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rPr>
              <a:t>Jira 이슈 연결</a:t>
            </a:r>
          </a:p>
        </p:txBody>
      </p:sp>
    </p:spTree>
    <p:extLst>
      <p:ext uri="{BB962C8B-B14F-4D97-AF65-F5344CB8AC3E}">
        <p14:creationId xmlns:p14="http://schemas.microsoft.com/office/powerpoint/2010/main" val="13501675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project-name">
            <a:extLst xmlns:a="http://schemas.openxmlformats.org/drawingml/2006/main">
              <a:ext uri="{FF2B5EF4-FFF2-40B4-BE49-F238E27FC236}">
                <a16:creationId xmlns:a16="http://schemas.microsoft.com/office/drawing/2014/main" id="{D902CE8B-D875-48A7-B5C3-54F1C0BE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rPr>
              <a:t>ReqOps Agent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83EAC37-9D63-4E83-8CAD-D4A4770B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191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8A99AA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575" b="1">
                <a:solidFill>
                  <a:srgbClr val="8A99AA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575" b="1">
                <a:solidFill>
                  <a:srgbClr val="8A99AA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575" b="1">
                <a:solidFill>
                  <a:srgbClr val="8A99AA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575" b="1">
                <a:solidFill>
                  <a:srgbClr val="8A99AA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575" b="1">
                <a:solidFill>
                  <a:srgbClr val="8A99AA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575" b="1">
                <a:solidFill>
                  <a:srgbClr val="8A99AA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575" b="1">
                <a:solidFill>
                  <a:srgbClr val="8A99AA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575" b="1">
                <a:solidFill>
                  <a:srgbClr val="8A99AA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575" b="1">
                <a:solidFill>
                  <a:srgbClr val="8A99AA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575" b="1">
                <a:solidFill>
                  <a:srgbClr val="8A99A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8A99AA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A69CF6-6299-4727-97DC-3AE12808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35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35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35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35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35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35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35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35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35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35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rPr>
              <a:t>사용 흐름과 구현 내용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13993982-B998-4E74-A8B7-F4033564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87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87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87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87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87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87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87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87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87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87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rPr>
              <a:t>AI 검토 결과를 사용자가 확인하고, 합의한 요구사항으로 산출물을 생성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D0B5E44-A6DC-49A8-AE60-0BFC1699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8A99AA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 b="0">
                <a:solidFill>
                  <a:srgbClr val="8A99AA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 b="0">
                <a:solidFill>
                  <a:srgbClr val="8A99AA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 b="0">
                <a:solidFill>
                  <a:srgbClr val="8A99AA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 b="0">
                <a:solidFill>
                  <a:srgbClr val="8A99AA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 b="0">
                <a:solidFill>
                  <a:srgbClr val="8A99AA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 b="0">
                <a:solidFill>
                  <a:srgbClr val="8A99AA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 b="0">
                <a:solidFill>
                  <a:srgbClr val="8A99AA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 b="0">
                <a:solidFill>
                  <a:srgbClr val="8A99AA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 b="0">
                <a:solidFill>
                  <a:srgbClr val="8A99AA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350" b="0">
                <a:solidFill>
                  <a:srgbClr val="8A99A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8A99AA"/>
                </a:solidFill>
                <a:latin typeface="Noto Sans KR"/>
                <a:ea typeface="Noto Sans KR"/>
                <a:cs typeface="Noto Sans KR"/>
              </a:rPr>
              <a:t>학습동아리 프로젝트 요약</a:t>
            </a:r>
          </a:p>
        </p:txBody>
      </p:sp>
      <p:sp>
        <p:nvSpPr>
          <p:cNvPr id="6" name="step0-n">
            <a:extLst xmlns:a="http://schemas.openxmlformats.org/drawingml/2006/main">
              <a:ext uri="{FF2B5EF4-FFF2-40B4-BE49-F238E27FC236}">
                <a16:creationId xmlns:a16="http://schemas.microsoft.com/office/drawing/2014/main" id="{502AC39F-2CE9-4588-8E54-58F39CFB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7" name="step0-title">
            <a:extLst xmlns:a="http://schemas.openxmlformats.org/drawingml/2006/main">
              <a:ext uri="{FF2B5EF4-FFF2-40B4-BE49-F238E27FC236}">
                <a16:creationId xmlns:a16="http://schemas.microsoft.com/office/drawing/2014/main" id="{D4A70601-8E1B-455F-8101-F851B006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71775"/>
            <a:ext cx="542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rPr>
              <a:t>요구사항 등록</a:t>
            </a:r>
          </a:p>
        </p:txBody>
      </p:sp>
      <p:sp>
        <p:nvSpPr>
          <p:cNvPr id="8" name="step0-body">
            <a:extLst xmlns:a="http://schemas.openxmlformats.org/drawingml/2006/main">
              <a:ext uri="{FF2B5EF4-FFF2-40B4-BE49-F238E27FC236}">
                <a16:creationId xmlns:a16="http://schemas.microsoft.com/office/drawing/2014/main" id="{9EAC6519-3478-41F5-8757-BBD64C88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81350"/>
            <a:ext cx="542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rPr>
              <a:t>고객 요구사항 입력과 프로젝트 용어 정리</a:t>
            </a:r>
          </a:p>
        </p:txBody>
      </p:sp>
      <p:sp>
        <p:nvSpPr>
          <p:cNvPr id="9" name="step1-n">
            <a:extLst xmlns:a="http://schemas.openxmlformats.org/drawingml/2006/main">
              <a:ext uri="{FF2B5EF4-FFF2-40B4-BE49-F238E27FC236}">
                <a16:creationId xmlns:a16="http://schemas.microsoft.com/office/drawing/2014/main" id="{1D6B2CCC-FCE4-4B3A-81DD-F00BACEC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0" name="step1-title">
            <a:extLst xmlns:a="http://schemas.openxmlformats.org/drawingml/2006/main">
              <a:ext uri="{FF2B5EF4-FFF2-40B4-BE49-F238E27FC236}">
                <a16:creationId xmlns:a16="http://schemas.microsoft.com/office/drawing/2014/main" id="{BB23200A-04BE-4F0E-831D-5E845D7A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00450"/>
            <a:ext cx="542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rPr>
              <a:t>AI 검토·요구사항 확정</a:t>
            </a:r>
          </a:p>
        </p:txBody>
      </p:sp>
      <p:sp>
        <p:nvSpPr>
          <p:cNvPr id="11" name="step1-body">
            <a:extLst xmlns:a="http://schemas.openxmlformats.org/drawingml/2006/main">
              <a:ext uri="{FF2B5EF4-FFF2-40B4-BE49-F238E27FC236}">
                <a16:creationId xmlns:a16="http://schemas.microsoft.com/office/drawing/2014/main" id="{531DB91A-9473-4AC3-811A-E7944901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10025"/>
            <a:ext cx="542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rPr>
              <a:t>변경 이유·수정안 확인, 본문 수정과 고객 합의</a:t>
            </a:r>
          </a:p>
        </p:txBody>
      </p:sp>
      <p:sp>
        <p:nvSpPr>
          <p:cNvPr id="12" name="step2-n">
            <a:extLst xmlns:a="http://schemas.openxmlformats.org/drawingml/2006/main">
              <a:ext uri="{FF2B5EF4-FFF2-40B4-BE49-F238E27FC236}">
                <a16:creationId xmlns:a16="http://schemas.microsoft.com/office/drawing/2014/main" id="{C971A7EE-DFF5-4396-B08E-19342C69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3" name="step2-title">
            <a:extLst xmlns:a="http://schemas.openxmlformats.org/drawingml/2006/main">
              <a:ext uri="{FF2B5EF4-FFF2-40B4-BE49-F238E27FC236}">
                <a16:creationId xmlns:a16="http://schemas.microsoft.com/office/drawing/2014/main" id="{C0CDDC8D-919B-433F-BAA0-48435CB1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9125"/>
            <a:ext cx="542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rPr>
              <a:t>개발 이슈·산출물 도출</a:t>
            </a:r>
          </a:p>
        </p:txBody>
      </p:sp>
      <p:sp>
        <p:nvSpPr>
          <p:cNvPr id="14" name="step2-body">
            <a:extLst xmlns:a="http://schemas.openxmlformats.org/drawingml/2006/main">
              <a:ext uri="{FF2B5EF4-FFF2-40B4-BE49-F238E27FC236}">
                <a16:creationId xmlns:a16="http://schemas.microsoft.com/office/drawing/2014/main" id="{849C67E9-06FE-40E1-8E3C-6DC6EA93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38700"/>
            <a:ext cx="542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rPr>
              <a:t>이슈 분할, SWVOC·기능·비기능·상세설계 초안</a:t>
            </a:r>
          </a:p>
        </p:txBody>
      </p:sp>
      <p:sp>
        <p:nvSpPr>
          <p:cNvPr id="15" name="step3-n">
            <a:extLst xmlns:a="http://schemas.openxmlformats.org/drawingml/2006/main">
              <a:ext uri="{FF2B5EF4-FFF2-40B4-BE49-F238E27FC236}">
                <a16:creationId xmlns:a16="http://schemas.microsoft.com/office/drawing/2014/main" id="{DF39F3C3-DE18-4A21-9D9D-86512ACF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865B8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6" name="step3-title">
            <a:extLst xmlns:a="http://schemas.openxmlformats.org/drawingml/2006/main">
              <a:ext uri="{FF2B5EF4-FFF2-40B4-BE49-F238E27FC236}">
                <a16:creationId xmlns:a16="http://schemas.microsoft.com/office/drawing/2014/main" id="{07D7EDE3-46E8-4EB8-8EFB-D18185BD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57800"/>
            <a:ext cx="542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rPr>
              <a:t>산출물 검토·전체 확정</a:t>
            </a:r>
          </a:p>
        </p:txBody>
      </p:sp>
      <p:sp>
        <p:nvSpPr>
          <p:cNvPr id="17" name="step3-body">
            <a:extLst xmlns:a="http://schemas.openxmlformats.org/drawingml/2006/main">
              <a:ext uri="{FF2B5EF4-FFF2-40B4-BE49-F238E27FC236}">
                <a16:creationId xmlns:a16="http://schemas.microsoft.com/office/drawing/2014/main" id="{BA6D7E13-F765-4418-8033-50809CA4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67375"/>
            <a:ext cx="542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4D6278"/>
                </a:solidFill>
                <a:latin typeface="Noto Sans KR"/>
                <a:ea typeface="Noto Sans KR"/>
                <a:cs typeface="Noto Sans KR"/>
              </a:rPr>
              <a:t>생성한 내용을 검토하고 최종 결과와 이력 저장</a:t>
            </a:r>
          </a:p>
        </p:txBody>
      </p:sp>
      <p:sp>
        <p:nvSpPr>
          <p:cNvPr id="18" name="stack-title">
            <a:extLst xmlns:a="http://schemas.openxmlformats.org/drawingml/2006/main">
              <a:ext uri="{FF2B5EF4-FFF2-40B4-BE49-F238E27FC236}">
                <a16:creationId xmlns:a16="http://schemas.microsoft.com/office/drawing/2014/main" id="{89627F87-C27C-4069-8605-71A1CC33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71775"/>
            <a:ext cx="4019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rPr>
              <a:t>구현 기술</a:t>
            </a:r>
          </a:p>
        </p:txBody>
      </p:sp>
      <p:sp>
        <p:nvSpPr>
          <p:cNvPr id="19" name="stack-body">
            <a:extLst xmlns:a="http://schemas.openxmlformats.org/drawingml/2006/main">
              <a:ext uri="{FF2B5EF4-FFF2-40B4-BE49-F238E27FC236}">
                <a16:creationId xmlns:a16="http://schemas.microsoft.com/office/drawing/2014/main" id="{C9C6F16C-D1F1-463F-8CDD-B4972367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14700"/>
            <a:ext cx="40195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rPr>
              <a:t>화면    Next.js·TypeScript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rPr>
              <a:t>서버    Spring Boot·Java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rPr>
              <a:t>AI       FastAPI·Python·사내 LLM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rPr>
              <a:t>저장·연동    Oracle·Jira</a:t>
            </a:r>
          </a:p>
        </p:txBody>
      </p:sp>
      <p:sp>
        <p:nvSpPr>
          <p:cNvPr id="20" name="learning-title">
            <a:extLst xmlns:a="http://schemas.openxmlformats.org/drawingml/2006/main">
              <a:ext uri="{FF2B5EF4-FFF2-40B4-BE49-F238E27FC236}">
                <a16:creationId xmlns:a16="http://schemas.microsoft.com/office/drawing/2014/main" id="{06B32584-7B7F-447E-83D6-9441AE86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038725"/>
            <a:ext cx="401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rPr>
              <a:t>학습 내용</a:t>
            </a:r>
          </a:p>
        </p:txBody>
      </p:sp>
      <p:sp>
        <p:nvSpPr>
          <p:cNvPr id="21" name="learning-body">
            <a:extLst xmlns:a="http://schemas.openxmlformats.org/drawingml/2006/main">
              <a:ext uri="{FF2B5EF4-FFF2-40B4-BE49-F238E27FC236}">
                <a16:creationId xmlns:a16="http://schemas.microsoft.com/office/drawing/2014/main" id="{C7B04C43-248A-4DD2-BCB1-7C41D48D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543550"/>
            <a:ext cx="40195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rPr>
              <a:t>LLM 요청·응답 검증과 서비스 연동,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4D6278"/>
                </a:solidFill>
                <a:latin typeface="Noto Sans KR"/>
                <a:ea typeface="Noto Sans KR"/>
                <a:cs typeface="Noto Sans KR"/>
              </a:rPr>
              <a:t>사용자 결정 중심의 검토 화면 구현</a:t>
            </a:r>
          </a:p>
        </p:txBody>
      </p:sp>
    </p:spTree>
    <p:extLst>
      <p:ext uri="{BB962C8B-B14F-4D97-AF65-F5344CB8AC3E}">
        <p14:creationId xmlns:p14="http://schemas.microsoft.com/office/powerpoint/2010/main" val="20853624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2026-10-30T00:58:30.2220000Z</dcterms:created>
  <dcterms:modified xsi:type="dcterms:W3CDTF">2026-10-30T00:58:30.2220000Z</dcterms:modified>
</coreProperties>
</file>